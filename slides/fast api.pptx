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69" r:id="rId3"/>
    <p:sldId id="277" r:id="rId4"/>
    <p:sldId id="258" r:id="rId5"/>
    <p:sldId id="278" r:id="rId6"/>
    <p:sldId id="328" r:id="rId7"/>
    <p:sldId id="326" r:id="rId8"/>
    <p:sldId id="382" r:id="rId9"/>
    <p:sldId id="381" r:id="rId10"/>
    <p:sldId id="337" r:id="rId11"/>
    <p:sldId id="281" r:id="rId12"/>
    <p:sldId id="342" r:id="rId13"/>
    <p:sldId id="383" r:id="rId14"/>
    <p:sldId id="343" r:id="rId15"/>
    <p:sldId id="373" r:id="rId16"/>
    <p:sldId id="375" r:id="rId17"/>
    <p:sldId id="374" r:id="rId18"/>
    <p:sldId id="376" r:id="rId19"/>
    <p:sldId id="344" r:id="rId20"/>
    <p:sldId id="378" r:id="rId21"/>
    <p:sldId id="379" r:id="rId22"/>
    <p:sldId id="380" r:id="rId23"/>
    <p:sldId id="377" r:id="rId24"/>
    <p:sldId id="345" r:id="rId25"/>
    <p:sldId id="347" r:id="rId26"/>
    <p:sldId id="349" r:id="rId27"/>
    <p:sldId id="350" r:id="rId28"/>
    <p:sldId id="352" r:id="rId29"/>
    <p:sldId id="365" r:id="rId30"/>
    <p:sldId id="366" r:id="rId31"/>
    <p:sldId id="353" r:id="rId32"/>
    <p:sldId id="367" r:id="rId33"/>
    <p:sldId id="368" r:id="rId34"/>
    <p:sldId id="354" r:id="rId35"/>
    <p:sldId id="369" r:id="rId36"/>
    <p:sldId id="370" r:id="rId37"/>
    <p:sldId id="371" r:id="rId38"/>
    <p:sldId id="372" r:id="rId39"/>
    <p:sldId id="355" r:id="rId40"/>
    <p:sldId id="356" r:id="rId41"/>
    <p:sldId id="357" r:id="rId42"/>
    <p:sldId id="359" r:id="rId43"/>
    <p:sldId id="360" r:id="rId44"/>
    <p:sldId id="364" r:id="rId45"/>
    <p:sldId id="361" r:id="rId46"/>
    <p:sldId id="362" r:id="rId47"/>
    <p:sldId id="363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5" autoAdjust="0"/>
    <p:restoredTop sz="94660"/>
  </p:normalViewPr>
  <p:slideViewPr>
    <p:cSldViewPr>
      <p:cViewPr varScale="1">
        <p:scale>
          <a:sx n="83" d="100"/>
          <a:sy n="83" d="100"/>
        </p:scale>
        <p:origin x="1747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AE49C-F3BF-4E0D-AE14-46549553586A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21B3AD-0362-4BAC-9CFE-4762FD27AD4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68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587500" y="1006475"/>
            <a:ext cx="4595813" cy="344805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1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5863" y="4787900"/>
            <a:ext cx="5407025" cy="38274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26596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984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059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195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85739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970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1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632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3787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072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155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5035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8935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56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3886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77585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9677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025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57034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602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31701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7779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21B3AD-0362-4BAC-9CFE-4762FD27AD4A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316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ython.org/downloads/release/python-3108/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127.0.0.1:8000/redoc" TargetMode="External"/><Relationship Id="rId4" Type="http://schemas.openxmlformats.org/officeDocument/2006/relationships/hyperlink" Target="http://127.0.0.1:8000/doc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3"/>
          <p:cNvSpPr txBox="1">
            <a:spLocks/>
          </p:cNvSpPr>
          <p:nvPr/>
        </p:nvSpPr>
        <p:spPr bwMode="auto">
          <a:xfrm>
            <a:off x="20425" y="5486400"/>
            <a:ext cx="4850294" cy="1066800"/>
          </a:xfrm>
          <a:prstGeom prst="rect">
            <a:avLst/>
          </a:prstGeom>
          <a:solidFill>
            <a:schemeClr val="tx1"/>
          </a:solidFill>
          <a:ln>
            <a:noFill/>
          </a:ln>
          <a:extLst/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/>
            <a:r>
              <a:rPr lang="en-US" sz="2400" dirty="0" smtClean="0">
                <a:solidFill>
                  <a:srgbClr val="FFFF00"/>
                </a:solidFill>
              </a:rPr>
              <a:t>Dr. </a:t>
            </a:r>
            <a:r>
              <a:rPr lang="en-US" sz="2400" dirty="0" err="1" smtClean="0">
                <a:solidFill>
                  <a:srgbClr val="FFFF00"/>
                </a:solidFill>
              </a:rPr>
              <a:t>D.S.R.Murthy</a:t>
            </a:r>
            <a:r>
              <a:rPr lang="en-US" sz="3200" dirty="0" smtClean="0">
                <a:solidFill>
                  <a:srgbClr val="FFFF00"/>
                </a:solidFill>
              </a:rPr>
              <a:t> </a:t>
            </a:r>
            <a:r>
              <a:rPr lang="en-US" sz="1600" dirty="0" smtClean="0">
                <a:solidFill>
                  <a:srgbClr val="FFFF00"/>
                </a:solidFill>
              </a:rPr>
              <a:t> </a:t>
            </a:r>
            <a:r>
              <a:rPr lang="en-US" sz="1600" dirty="0" err="1">
                <a:solidFill>
                  <a:srgbClr val="FFFF00"/>
                </a:solidFill>
              </a:rPr>
              <a:t>M.Tech</a:t>
            </a:r>
            <a:r>
              <a:rPr lang="en-US" sz="1600" dirty="0">
                <a:solidFill>
                  <a:srgbClr val="FFFF00"/>
                </a:solidFill>
              </a:rPr>
              <a:t> (IT)</a:t>
            </a:r>
          </a:p>
          <a:p>
            <a:pPr algn="ctr" eaLnBrk="1" hangingPunct="1"/>
            <a:r>
              <a:rPr lang="en-US" sz="1600" smtClean="0">
                <a:solidFill>
                  <a:srgbClr val="FFFF00"/>
                </a:solidFill>
              </a:rPr>
              <a:t>Project Mentor &amp; </a:t>
            </a:r>
            <a:r>
              <a:rPr lang="en-US" sz="1600" dirty="0">
                <a:solidFill>
                  <a:srgbClr val="FFFF00"/>
                </a:solidFill>
              </a:rPr>
              <a:t>Corporate Trainer</a:t>
            </a:r>
          </a:p>
          <a:p>
            <a:pPr algn="ctr" eaLnBrk="1" hangingPunct="1"/>
            <a:r>
              <a:rPr lang="en-US" sz="1600" dirty="0">
                <a:solidFill>
                  <a:srgbClr val="FFFF00"/>
                </a:solidFill>
              </a:rPr>
              <a:t>Experience : </a:t>
            </a:r>
            <a:r>
              <a:rPr lang="en-US" sz="1600" dirty="0" smtClean="0">
                <a:solidFill>
                  <a:srgbClr val="FFFF00"/>
                </a:solidFill>
              </a:rPr>
              <a:t>34 years</a:t>
            </a: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4" name="TextBox 8"/>
          <p:cNvSpPr txBox="1">
            <a:spLocks noChangeArrowheads="1"/>
          </p:cNvSpPr>
          <p:nvPr/>
        </p:nvSpPr>
        <p:spPr>
          <a:xfrm>
            <a:off x="4931201" y="14778"/>
            <a:ext cx="4191000" cy="6828444"/>
          </a:xfrm>
          <a:prstGeom prst="rect">
            <a:avLst/>
          </a:prstGeom>
          <a:solidFill>
            <a:schemeClr val="tx1"/>
          </a:solidFill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2400" b="1" u="sng" dirty="0" smtClean="0">
                <a:solidFill>
                  <a:srgbClr val="FFFF00"/>
                </a:solidFill>
              </a:rPr>
              <a:t>Specialization</a:t>
            </a: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Net 9.0, </a:t>
            </a:r>
            <a:r>
              <a:rPr lang="en-US" sz="1700" dirty="0" err="1" smtClean="0">
                <a:solidFill>
                  <a:schemeClr val="bg1"/>
                </a:solidFill>
              </a:rPr>
              <a:t>ASP.Net</a:t>
            </a:r>
            <a:r>
              <a:rPr lang="en-US" sz="1700" dirty="0" smtClean="0">
                <a:solidFill>
                  <a:schemeClr val="bg1"/>
                </a:solidFill>
              </a:rPr>
              <a:t> Core 9.0 </a:t>
            </a: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C</a:t>
            </a:r>
            <a:r>
              <a:rPr lang="en-US" sz="1700" dirty="0">
                <a:solidFill>
                  <a:schemeClr val="bg1"/>
                </a:solidFill>
              </a:rPr>
              <a:t># </a:t>
            </a:r>
            <a:r>
              <a:rPr lang="en-US" sz="1700" dirty="0" smtClean="0">
                <a:solidFill>
                  <a:schemeClr val="bg1"/>
                </a:solidFill>
              </a:rPr>
              <a:t>12.0</a:t>
            </a:r>
            <a:r>
              <a:rPr lang="en-US" sz="1700" dirty="0">
                <a:solidFill>
                  <a:schemeClr val="bg1"/>
                </a:solidFill>
              </a:rPr>
              <a:t>, WPF 4.5 .2 with Blend</a:t>
            </a:r>
          </a:p>
          <a:p>
            <a:pPr algn="r">
              <a:spcBef>
                <a:spcPts val="400"/>
              </a:spcBef>
              <a:defRPr/>
            </a:pPr>
            <a:r>
              <a:rPr lang="en-US" sz="1700" dirty="0" err="1">
                <a:solidFill>
                  <a:schemeClr val="bg1"/>
                </a:solidFill>
              </a:rPr>
              <a:t>ASP.Net</a:t>
            </a:r>
            <a:r>
              <a:rPr lang="en-US" sz="1700" dirty="0">
                <a:solidFill>
                  <a:schemeClr val="bg1"/>
                </a:solidFill>
              </a:rPr>
              <a:t>  MVC </a:t>
            </a:r>
            <a:r>
              <a:rPr lang="en-US" sz="1700" dirty="0" smtClean="0">
                <a:solidFill>
                  <a:schemeClr val="bg1"/>
                </a:solidFill>
              </a:rPr>
              <a:t>9.0 </a:t>
            </a:r>
            <a:r>
              <a:rPr lang="en-US" sz="1700" dirty="0">
                <a:solidFill>
                  <a:schemeClr val="bg1"/>
                </a:solidFill>
              </a:rPr>
              <a:t>&amp; </a:t>
            </a:r>
            <a:r>
              <a:rPr lang="en-US" sz="1700" dirty="0" smtClean="0">
                <a:solidFill>
                  <a:schemeClr val="bg1"/>
                </a:solidFill>
              </a:rPr>
              <a:t>Micro services</a:t>
            </a:r>
            <a:endParaRPr lang="en-US" sz="1700" dirty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 err="1" smtClean="0">
                <a:solidFill>
                  <a:schemeClr val="bg1"/>
                </a:solidFill>
              </a:rPr>
              <a:t>Blazor</a:t>
            </a:r>
            <a:r>
              <a:rPr lang="en-US" sz="1700" dirty="0" smtClean="0">
                <a:solidFill>
                  <a:schemeClr val="bg1"/>
                </a:solidFill>
              </a:rPr>
              <a:t>, </a:t>
            </a:r>
            <a:r>
              <a:rPr lang="en-US" sz="1700" dirty="0" err="1" smtClean="0">
                <a:solidFill>
                  <a:schemeClr val="bg1"/>
                </a:solidFill>
              </a:rPr>
              <a:t>gRPC</a:t>
            </a:r>
            <a:r>
              <a:rPr lang="en-US" sz="1700" dirty="0" smtClean="0">
                <a:solidFill>
                  <a:schemeClr val="bg1"/>
                </a:solidFill>
              </a:rPr>
              <a:t>, Asp.net Web API</a:t>
            </a:r>
            <a:endParaRPr lang="en-US" sz="1700" dirty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Python 3.14   with CICD, Shiny tool </a:t>
            </a: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DevOps,  GIT, Jenkins, Docker</a:t>
            </a:r>
            <a:endParaRPr lang="en-US" sz="1700" dirty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Adv. </a:t>
            </a:r>
            <a:r>
              <a:rPr lang="en-US" sz="1700" dirty="0" err="1" smtClean="0">
                <a:solidFill>
                  <a:schemeClr val="bg1"/>
                </a:solidFill>
              </a:rPr>
              <a:t>Python,Django</a:t>
            </a:r>
            <a:r>
              <a:rPr lang="en-US" sz="1700" dirty="0" smtClean="0">
                <a:solidFill>
                  <a:schemeClr val="bg1"/>
                </a:solidFill>
              </a:rPr>
              <a:t>, Flask,  AWS admin</a:t>
            </a: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Claude, Gen AI, </a:t>
            </a:r>
            <a:r>
              <a:rPr lang="en-US" sz="1700" dirty="0" err="1" smtClean="0">
                <a:solidFill>
                  <a:schemeClr val="bg1"/>
                </a:solidFill>
              </a:rPr>
              <a:t>Agentic</a:t>
            </a:r>
            <a:r>
              <a:rPr lang="en-US" sz="1700" dirty="0" smtClean="0">
                <a:solidFill>
                  <a:schemeClr val="bg1"/>
                </a:solidFill>
              </a:rPr>
              <a:t> AI with MCP</a:t>
            </a:r>
            <a:endParaRPr lang="en-US" sz="1700" dirty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Java, HTML </a:t>
            </a:r>
            <a:r>
              <a:rPr lang="en-US" sz="1700" dirty="0">
                <a:solidFill>
                  <a:schemeClr val="bg1"/>
                </a:solidFill>
              </a:rPr>
              <a:t>5, CSS 3, SASS, </a:t>
            </a:r>
            <a:r>
              <a:rPr lang="en-US" sz="1700" dirty="0" smtClean="0">
                <a:solidFill>
                  <a:schemeClr val="bg1"/>
                </a:solidFill>
              </a:rPr>
              <a:t>Bootstrap</a:t>
            </a:r>
            <a:endParaRPr lang="en-US" sz="1700" dirty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React 19.0  with Typescript &amp; </a:t>
            </a:r>
            <a:r>
              <a:rPr lang="en-US" sz="1700" dirty="0" err="1" smtClean="0">
                <a:solidFill>
                  <a:schemeClr val="bg1"/>
                </a:solidFill>
              </a:rPr>
              <a:t>Zustand</a:t>
            </a:r>
            <a:endParaRPr lang="en-US" sz="1700" dirty="0" smtClean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 Micro-services in python  with Fast API</a:t>
            </a: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ES </a:t>
            </a:r>
            <a:r>
              <a:rPr lang="en-US" sz="1700" dirty="0">
                <a:solidFill>
                  <a:schemeClr val="bg1"/>
                </a:solidFill>
              </a:rPr>
              <a:t>6, </a:t>
            </a:r>
            <a:r>
              <a:rPr lang="en-US" sz="1700" dirty="0" err="1">
                <a:solidFill>
                  <a:schemeClr val="bg1"/>
                </a:solidFill>
              </a:rPr>
              <a:t>Jquery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smtClean="0">
                <a:solidFill>
                  <a:schemeClr val="bg1"/>
                </a:solidFill>
              </a:rPr>
              <a:t>3.x,D3.js,GraphQL with Apollo</a:t>
            </a:r>
            <a:endParaRPr lang="en-US" sz="1700" dirty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Advanced Next </a:t>
            </a:r>
            <a:r>
              <a:rPr lang="en-US" sz="1700" dirty="0" err="1" smtClean="0">
                <a:solidFill>
                  <a:schemeClr val="bg1"/>
                </a:solidFill>
              </a:rPr>
              <a:t>js</a:t>
            </a:r>
            <a:r>
              <a:rPr lang="en-US" sz="1700" dirty="0">
                <a:solidFill>
                  <a:schemeClr val="bg1"/>
                </a:solidFill>
              </a:rPr>
              <a:t> </a:t>
            </a:r>
            <a:r>
              <a:rPr lang="en-US" sz="1700" dirty="0" smtClean="0">
                <a:solidFill>
                  <a:schemeClr val="bg1"/>
                </a:solidFill>
              </a:rPr>
              <a:t>with </a:t>
            </a:r>
            <a:r>
              <a:rPr lang="en-US" sz="1700" dirty="0" err="1" smtClean="0">
                <a:solidFill>
                  <a:schemeClr val="bg1"/>
                </a:solidFill>
              </a:rPr>
              <a:t>OpenAI</a:t>
            </a:r>
            <a:r>
              <a:rPr lang="en-US" sz="1700" dirty="0" smtClean="0">
                <a:solidFill>
                  <a:schemeClr val="bg1"/>
                </a:solidFill>
              </a:rPr>
              <a:t>, LLM,CMS</a:t>
            </a:r>
            <a:endParaRPr lang="en-US" sz="1700" dirty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 err="1" smtClean="0">
                <a:solidFill>
                  <a:schemeClr val="bg1"/>
                </a:solidFill>
              </a:rPr>
              <a:t>Github</a:t>
            </a:r>
            <a:r>
              <a:rPr lang="en-US" sz="1700" dirty="0" smtClean="0">
                <a:solidFill>
                  <a:schemeClr val="bg1"/>
                </a:solidFill>
              </a:rPr>
              <a:t> </a:t>
            </a:r>
            <a:r>
              <a:rPr lang="en-US" sz="1700" dirty="0" err="1" smtClean="0">
                <a:solidFill>
                  <a:schemeClr val="bg1"/>
                </a:solidFill>
              </a:rPr>
              <a:t>Copilot,Typescript</a:t>
            </a:r>
            <a:r>
              <a:rPr lang="en-US" sz="1700" dirty="0">
                <a:solidFill>
                  <a:schemeClr val="bg1"/>
                </a:solidFill>
              </a:rPr>
              <a:t>, Angular </a:t>
            </a:r>
            <a:r>
              <a:rPr lang="en-US" sz="1700" dirty="0" smtClean="0">
                <a:solidFill>
                  <a:schemeClr val="bg1"/>
                </a:solidFill>
              </a:rPr>
              <a:t>22   </a:t>
            </a:r>
          </a:p>
          <a:p>
            <a:pPr algn="r">
              <a:spcBef>
                <a:spcPts val="400"/>
              </a:spcBef>
              <a:defRPr/>
            </a:pPr>
            <a:r>
              <a:rPr lang="en-US" sz="1700" dirty="0" err="1" smtClean="0">
                <a:solidFill>
                  <a:schemeClr val="bg1"/>
                </a:solidFill>
              </a:rPr>
              <a:t>Haxe</a:t>
            </a:r>
            <a:r>
              <a:rPr lang="en-US" sz="1700" dirty="0" smtClean="0">
                <a:solidFill>
                  <a:schemeClr val="bg1"/>
                </a:solidFill>
              </a:rPr>
              <a:t>  , </a:t>
            </a:r>
            <a:r>
              <a:rPr lang="en-US" sz="1700" dirty="0" err="1" smtClean="0">
                <a:solidFill>
                  <a:schemeClr val="bg1"/>
                </a:solidFill>
              </a:rPr>
              <a:t>Vue</a:t>
            </a:r>
            <a:r>
              <a:rPr lang="en-US" sz="1700" dirty="0" smtClean="0">
                <a:solidFill>
                  <a:schemeClr val="bg1"/>
                </a:solidFill>
              </a:rPr>
              <a:t> </a:t>
            </a:r>
            <a:r>
              <a:rPr lang="en-US" sz="1700" dirty="0" err="1" smtClean="0">
                <a:solidFill>
                  <a:schemeClr val="bg1"/>
                </a:solidFill>
              </a:rPr>
              <a:t>js</a:t>
            </a:r>
            <a:r>
              <a:rPr lang="en-US" sz="1700" dirty="0" smtClean="0">
                <a:solidFill>
                  <a:schemeClr val="bg1"/>
                </a:solidFill>
              </a:rPr>
              <a:t>, Oracle </a:t>
            </a:r>
            <a:r>
              <a:rPr lang="en-US" sz="1700" dirty="0">
                <a:solidFill>
                  <a:schemeClr val="bg1"/>
                </a:solidFill>
              </a:rPr>
              <a:t>Jet, </a:t>
            </a:r>
            <a:r>
              <a:rPr lang="en-US" sz="1700" dirty="0" smtClean="0">
                <a:solidFill>
                  <a:schemeClr val="bg1"/>
                </a:solidFill>
              </a:rPr>
              <a:t>Open UI 5 </a:t>
            </a:r>
            <a:endParaRPr lang="en-US" sz="1700" dirty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React 19.x &amp;  Redux , React Native   </a:t>
            </a:r>
            <a:endParaRPr lang="en-US" sz="1700" dirty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 smtClean="0">
                <a:solidFill>
                  <a:schemeClr val="bg1"/>
                </a:solidFill>
              </a:rPr>
              <a:t>Rust </a:t>
            </a:r>
            <a:r>
              <a:rPr lang="en-US" sz="1700" dirty="0">
                <a:solidFill>
                  <a:schemeClr val="bg1"/>
                </a:solidFill>
              </a:rPr>
              <a:t>Language, </a:t>
            </a:r>
            <a:r>
              <a:rPr lang="en-US" sz="1700" dirty="0" err="1" smtClean="0">
                <a:solidFill>
                  <a:schemeClr val="bg1"/>
                </a:solidFill>
              </a:rPr>
              <a:t>analogjs</a:t>
            </a:r>
            <a:r>
              <a:rPr lang="en-US" sz="1700" dirty="0" smtClean="0">
                <a:solidFill>
                  <a:schemeClr val="bg1"/>
                </a:solidFill>
              </a:rPr>
              <a:t>, </a:t>
            </a:r>
            <a:r>
              <a:rPr lang="en-US" sz="1700" dirty="0" err="1" smtClean="0">
                <a:solidFill>
                  <a:schemeClr val="bg1"/>
                </a:solidFill>
              </a:rPr>
              <a:t>svlete</a:t>
            </a:r>
            <a:r>
              <a:rPr lang="en-US" sz="1700" dirty="0" smtClean="0">
                <a:solidFill>
                  <a:schemeClr val="bg1"/>
                </a:solidFill>
              </a:rPr>
              <a:t>, </a:t>
            </a:r>
            <a:endParaRPr lang="en-US" sz="1700" dirty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>
                <a:solidFill>
                  <a:schemeClr val="bg1"/>
                </a:solidFill>
              </a:rPr>
              <a:t>Node </a:t>
            </a:r>
            <a:r>
              <a:rPr lang="en-US" sz="1700" dirty="0" err="1">
                <a:solidFill>
                  <a:schemeClr val="bg1"/>
                </a:solidFill>
              </a:rPr>
              <a:t>js</a:t>
            </a:r>
            <a:r>
              <a:rPr lang="en-US" sz="1700" dirty="0">
                <a:solidFill>
                  <a:schemeClr val="bg1"/>
                </a:solidFill>
              </a:rPr>
              <a:t>, Mongo </a:t>
            </a:r>
            <a:r>
              <a:rPr lang="en-US" sz="1700" dirty="0" smtClean="0">
                <a:solidFill>
                  <a:schemeClr val="bg1"/>
                </a:solidFill>
              </a:rPr>
              <a:t>DB,JSON,YAML, TOML  </a:t>
            </a:r>
            <a:endParaRPr lang="en-US" sz="1700" dirty="0">
              <a:solidFill>
                <a:schemeClr val="bg1"/>
              </a:solidFill>
            </a:endParaRPr>
          </a:p>
          <a:p>
            <a:pPr algn="r">
              <a:spcBef>
                <a:spcPts val="400"/>
              </a:spcBef>
              <a:defRPr/>
            </a:pPr>
            <a:r>
              <a:rPr lang="en-US" sz="1700" dirty="0">
                <a:solidFill>
                  <a:schemeClr val="bg1"/>
                </a:solidFill>
              </a:rPr>
              <a:t>Mocha, </a:t>
            </a:r>
            <a:r>
              <a:rPr lang="en-US" sz="1700" dirty="0" err="1">
                <a:solidFill>
                  <a:schemeClr val="bg1"/>
                </a:solidFill>
              </a:rPr>
              <a:t>Jasmine,Protractor</a:t>
            </a:r>
            <a:r>
              <a:rPr lang="en-US" sz="1700" dirty="0">
                <a:solidFill>
                  <a:schemeClr val="bg1"/>
                </a:solidFill>
              </a:rPr>
              <a:t>, Karma</a:t>
            </a:r>
          </a:p>
          <a:p>
            <a:pPr algn="r">
              <a:spcBef>
                <a:spcPts val="400"/>
              </a:spcBef>
              <a:defRPr/>
            </a:pPr>
            <a:r>
              <a:rPr lang="en-US" sz="1700" dirty="0">
                <a:solidFill>
                  <a:schemeClr val="bg1"/>
                </a:solidFill>
              </a:rPr>
              <a:t>Docker, </a:t>
            </a:r>
            <a:r>
              <a:rPr lang="en-US" sz="1700" dirty="0" err="1">
                <a:solidFill>
                  <a:schemeClr val="bg1"/>
                </a:solidFill>
              </a:rPr>
              <a:t>Webpack</a:t>
            </a:r>
            <a:r>
              <a:rPr lang="en-US" sz="1700" dirty="0">
                <a:solidFill>
                  <a:schemeClr val="bg1"/>
                </a:solidFill>
              </a:rPr>
              <a:t>, Grunt, Gulp,</a:t>
            </a:r>
          </a:p>
          <a:p>
            <a:pPr algn="r">
              <a:spcBef>
                <a:spcPts val="600"/>
              </a:spcBef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95400" y="32885"/>
            <a:ext cx="2514600" cy="3806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6"/>
          <p:cNvSpPr txBox="1"/>
          <p:nvPr/>
        </p:nvSpPr>
        <p:spPr>
          <a:xfrm>
            <a:off x="38890" y="4114800"/>
            <a:ext cx="4850294" cy="523220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smtClean="0">
                <a:solidFill>
                  <a:srgbClr val="FFFF00"/>
                </a:solidFill>
              </a:rPr>
              <a:t>Fast API</a:t>
            </a:r>
            <a:endParaRPr lang="en-IN" sz="2800" b="1" dirty="0" smtClean="0">
              <a:solidFill>
                <a:srgbClr val="FFFF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5400" y="4800600"/>
            <a:ext cx="510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Complete the pre-test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1969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36575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FF00"/>
                </a:solidFill>
              </a:rPr>
              <a:t>Python 3.x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66700" y="838200"/>
            <a:ext cx="8610600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</a:rPr>
              <a:t>P</a:t>
            </a:r>
            <a:r>
              <a:rPr lang="en-US" sz="2800" dirty="0" smtClean="0">
                <a:solidFill>
                  <a:srgbClr val="FF0000"/>
                </a:solidFill>
              </a:rPr>
              <a:t>ython </a:t>
            </a:r>
            <a:r>
              <a:rPr lang="en-US" sz="2800" dirty="0">
                <a:solidFill>
                  <a:srgbClr val="FF0000"/>
                </a:solidFill>
              </a:rPr>
              <a:t>is easy to learn, highly readable, and simple to </a:t>
            </a:r>
            <a:r>
              <a:rPr lang="en-US" sz="2800" dirty="0" smtClean="0">
                <a:solidFill>
                  <a:srgbClr val="FF0000"/>
                </a:solidFill>
              </a:rPr>
              <a:t>use</a:t>
            </a:r>
          </a:p>
          <a:p>
            <a:pPr algn="ctr"/>
            <a:endParaRPr lang="en-US" sz="2800" dirty="0"/>
          </a:p>
          <a:p>
            <a:pPr algn="ctr"/>
            <a:r>
              <a:rPr lang="en-US" sz="2800" dirty="0" smtClean="0"/>
              <a:t>Python </a:t>
            </a:r>
            <a:r>
              <a:rPr lang="en-US" sz="2800" dirty="0"/>
              <a:t>programming is platform independent (</a:t>
            </a:r>
            <a:r>
              <a:rPr lang="en-US" sz="2800" dirty="0" smtClean="0"/>
              <a:t>mac/windows/</a:t>
            </a:r>
            <a:r>
              <a:rPr lang="en-US" sz="2800" dirty="0" err="1" smtClean="0"/>
              <a:t>linux</a:t>
            </a:r>
            <a:r>
              <a:rPr lang="en-US" sz="2800" dirty="0" smtClean="0"/>
              <a:t>)</a:t>
            </a:r>
          </a:p>
          <a:p>
            <a:pPr algn="ctr"/>
            <a:endParaRPr lang="en-US" sz="2800" dirty="0"/>
          </a:p>
          <a:p>
            <a:pPr lvl="0" algn="ctr"/>
            <a:r>
              <a:rPr lang="en-US" sz="2800" dirty="0"/>
              <a:t>Python is one of the preferred programming languages for working in Test Automation, Web Scraping, Data Analytics, and Machine Learning </a:t>
            </a:r>
            <a:r>
              <a:rPr lang="en-US" sz="2800" dirty="0" smtClean="0"/>
              <a:t>domains</a:t>
            </a:r>
          </a:p>
          <a:p>
            <a:pPr lvl="0" algn="ctr"/>
            <a:endParaRPr lang="en-US" sz="2800" dirty="0"/>
          </a:p>
          <a:p>
            <a:pPr lvl="0" algn="ctr"/>
            <a:r>
              <a:rPr lang="en-US" sz="2800" dirty="0" smtClean="0">
                <a:solidFill>
                  <a:srgbClr val="FF0000"/>
                </a:solidFill>
              </a:rPr>
              <a:t>Modules:</a:t>
            </a:r>
          </a:p>
          <a:p>
            <a:pPr lvl="0" algn="ctr"/>
            <a:r>
              <a:rPr lang="en-US" sz="2800" dirty="0"/>
              <a:t>p</a:t>
            </a:r>
            <a:r>
              <a:rPr lang="en-US" sz="2800" dirty="0" smtClean="0"/>
              <a:t>andas,</a:t>
            </a:r>
            <a:r>
              <a:rPr lang="en-US" sz="2800" dirty="0"/>
              <a:t> </a:t>
            </a:r>
            <a:r>
              <a:rPr lang="en-US" sz="2800" dirty="0" err="1"/>
              <a:t>numpy</a:t>
            </a:r>
            <a:r>
              <a:rPr lang="en-US" sz="2800" dirty="0"/>
              <a:t> </a:t>
            </a:r>
            <a:r>
              <a:rPr lang="en-US" sz="2800" dirty="0" smtClean="0"/>
              <a:t>,</a:t>
            </a:r>
            <a:r>
              <a:rPr lang="en-US" sz="2800" dirty="0" err="1" smtClean="0"/>
              <a:t>scipy</a:t>
            </a:r>
            <a:r>
              <a:rPr lang="en-US" sz="2800" dirty="0" smtClean="0"/>
              <a:t> ,</a:t>
            </a:r>
            <a:r>
              <a:rPr lang="en-US" sz="2800" dirty="0" err="1" smtClean="0"/>
              <a:t>scikit</a:t>
            </a:r>
            <a:r>
              <a:rPr lang="en-US" sz="2800" dirty="0" smtClean="0"/>
              <a:t>-learn , </a:t>
            </a:r>
            <a:r>
              <a:rPr lang="en-US" sz="2800" dirty="0" err="1" smtClean="0"/>
              <a:t>matplotlib</a:t>
            </a:r>
            <a:r>
              <a:rPr lang="en-US" sz="2800" dirty="0" smtClean="0"/>
              <a:t>, </a:t>
            </a:r>
            <a:r>
              <a:rPr lang="en-US" sz="2800" dirty="0" err="1" smtClean="0"/>
              <a:t>tensorflow</a:t>
            </a:r>
            <a:r>
              <a:rPr lang="en-US" sz="2800" dirty="0" smtClean="0"/>
              <a:t>, </a:t>
            </a:r>
            <a:r>
              <a:rPr lang="en-US" sz="2800" dirty="0" err="1" smtClean="0"/>
              <a:t>seaborn</a:t>
            </a:r>
            <a:r>
              <a:rPr lang="en-US" sz="2800" dirty="0" smtClean="0"/>
              <a:t>, </a:t>
            </a:r>
            <a:r>
              <a:rPr lang="en-US" sz="2800" dirty="0" err="1" smtClean="0"/>
              <a:t>beautifulsoup</a:t>
            </a:r>
            <a:r>
              <a:rPr lang="en-US" sz="2800" dirty="0" smtClean="0"/>
              <a:t>……</a:t>
            </a:r>
            <a:endParaRPr lang="en-US" sz="2800" dirty="0"/>
          </a:p>
          <a:p>
            <a:pPr algn="ctr"/>
            <a:endParaRPr lang="en-US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smtClean="0">
                <a:solidFill>
                  <a:srgbClr val="FF0000"/>
                </a:solidFill>
              </a:rPr>
              <a:t>DSR Murthy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err="1" smtClean="0">
                <a:solidFill>
                  <a:srgbClr val="FF0000"/>
                </a:solidFill>
              </a:rPr>
              <a:t>Dr.</a:t>
            </a:r>
            <a:r>
              <a:rPr lang="en-IN" b="1" dirty="0" smtClean="0">
                <a:solidFill>
                  <a:srgbClr val="FF0000"/>
                </a:solidFill>
              </a:rPr>
              <a:t> DSR Murthy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43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 smtClean="0">
                <a:effectLst/>
              </a:rPr>
              <a:t>“Python” or “</a:t>
            </a:r>
            <a:r>
              <a:rPr lang="en-US" altLang="en-US" dirty="0" err="1" smtClean="0">
                <a:effectLst/>
              </a:rPr>
              <a:t>CPython</a:t>
            </a:r>
            <a:r>
              <a:rPr lang="en-US" altLang="en-US" dirty="0" smtClean="0">
                <a:effectLst/>
              </a:rPr>
              <a:t>” is written in C/C++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 smtClean="0">
                <a:effectLst/>
              </a:rPr>
              <a:t>   </a:t>
            </a:r>
          </a:p>
          <a:p>
            <a:pPr eaLnBrk="1" hangingPunct="1"/>
            <a:r>
              <a:rPr lang="en-US" altLang="en-US" dirty="0" smtClean="0">
                <a:effectLst/>
              </a:rPr>
              <a:t>“</a:t>
            </a:r>
            <a:r>
              <a:rPr lang="en-US" altLang="en-US" dirty="0" err="1" smtClean="0">
                <a:effectLst/>
              </a:rPr>
              <a:t>Jython</a:t>
            </a:r>
            <a:r>
              <a:rPr lang="en-US" altLang="en-US" dirty="0" smtClean="0">
                <a:effectLst/>
              </a:rPr>
              <a:t>” is written in Java for the JVM</a:t>
            </a:r>
          </a:p>
          <a:p>
            <a:pPr marL="0" indent="0" eaLnBrk="1" hangingPunct="1">
              <a:buNone/>
            </a:pPr>
            <a:endParaRPr lang="en-US" altLang="en-US" dirty="0" smtClean="0">
              <a:effectLst/>
            </a:endParaRPr>
          </a:p>
          <a:p>
            <a:pPr eaLnBrk="1" hangingPunct="1"/>
            <a:r>
              <a:rPr lang="en-US" altLang="en-US" dirty="0" smtClean="0">
                <a:effectLst/>
              </a:rPr>
              <a:t>“</a:t>
            </a:r>
            <a:r>
              <a:rPr lang="en-US" altLang="en-US" dirty="0" err="1" smtClean="0">
                <a:effectLst/>
              </a:rPr>
              <a:t>IronPython</a:t>
            </a:r>
            <a:r>
              <a:rPr lang="en-US" altLang="en-US" dirty="0" smtClean="0">
                <a:effectLst/>
              </a:rPr>
              <a:t>” is written in C# for the </a:t>
            </a:r>
            <a:r>
              <a:rPr lang="en-US" altLang="en-US" dirty="0" err="1" smtClean="0">
                <a:effectLst/>
              </a:rPr>
              <a:t>.Net</a:t>
            </a:r>
            <a:r>
              <a:rPr lang="en-US" altLang="en-US" dirty="0" smtClean="0">
                <a:effectLst/>
              </a:rPr>
              <a:t> environment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Python 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smtClean="0">
                <a:solidFill>
                  <a:srgbClr val="FF0000"/>
                </a:solidFill>
              </a:rPr>
              <a:t>DSR Murthy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45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err="1" smtClean="0">
                <a:solidFill>
                  <a:srgbClr val="FF0000"/>
                </a:solidFill>
              </a:rPr>
              <a:t>Dr.</a:t>
            </a:r>
            <a:r>
              <a:rPr lang="en-IN" b="1" dirty="0" smtClean="0">
                <a:solidFill>
                  <a:srgbClr val="FF0000"/>
                </a:solidFill>
              </a:rPr>
              <a:t> DSR Murthy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698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36575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FF00"/>
                </a:solidFill>
              </a:rPr>
              <a:t>Python Versions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3400" y="696466"/>
            <a:ext cx="8382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Python Version 				</a:t>
            </a:r>
            <a:r>
              <a:rPr lang="en-US" sz="2400" b="1" u="sng" dirty="0" smtClean="0">
                <a:solidFill>
                  <a:srgbClr val="FF0000"/>
                </a:solidFill>
              </a:rPr>
              <a:t>Release </a:t>
            </a:r>
            <a:r>
              <a:rPr lang="en-US" sz="2400" b="1" u="sng" dirty="0">
                <a:solidFill>
                  <a:srgbClr val="FF0000"/>
                </a:solidFill>
              </a:rPr>
              <a:t>date:</a:t>
            </a:r>
            <a:endParaRPr lang="en-US" b="1" dirty="0">
              <a:solidFill>
                <a:srgbClr val="FF0000"/>
              </a:solidFill>
            </a:endParaRPr>
          </a:p>
          <a:p>
            <a:pPr lvl="0" fontAlgn="ctr"/>
            <a:r>
              <a:rPr lang="en-US" sz="2400" dirty="0"/>
              <a:t>Python v0.1.0 (The First Edition)		- 1990</a:t>
            </a:r>
          </a:p>
          <a:p>
            <a:pPr lvl="0" fontAlgn="ctr"/>
            <a:r>
              <a:rPr lang="en-US" sz="2400" dirty="0"/>
              <a:t>Python v0.9.5 (Macintosh support)		- 1992</a:t>
            </a:r>
          </a:p>
          <a:p>
            <a:pPr lvl="0" fontAlgn="ctr"/>
            <a:r>
              <a:rPr lang="en-US" sz="2400" dirty="0"/>
              <a:t>Python v1.0.0					- 26th Jan’1994</a:t>
            </a:r>
          </a:p>
          <a:p>
            <a:pPr lvl="0" fontAlgn="ctr"/>
            <a:r>
              <a:rPr lang="en-US" sz="2400" dirty="0"/>
              <a:t>Python v1.1.0					- 26th Jan’1994</a:t>
            </a:r>
          </a:p>
          <a:p>
            <a:pPr lvl="0" fontAlgn="ctr"/>
            <a:r>
              <a:rPr lang="en-US" sz="2400" dirty="0"/>
              <a:t>Python v1.2.0					- Apr’1995</a:t>
            </a:r>
          </a:p>
          <a:p>
            <a:pPr lvl="0" fontAlgn="ctr"/>
            <a:r>
              <a:rPr lang="en-US" sz="2400" dirty="0"/>
              <a:t>Python v1.3.0					- Oct’1995</a:t>
            </a:r>
          </a:p>
          <a:p>
            <a:pPr lvl="0" fontAlgn="ctr"/>
            <a:r>
              <a:rPr lang="en-US" sz="2400" dirty="0"/>
              <a:t>Python v1.4.0					- Oct’1996</a:t>
            </a:r>
          </a:p>
          <a:p>
            <a:pPr lvl="0" fontAlgn="ctr"/>
            <a:r>
              <a:rPr lang="en-US" sz="2400" dirty="0"/>
              <a:t>Python v1.5.0					- 3rd Jan’1998</a:t>
            </a:r>
          </a:p>
          <a:p>
            <a:pPr lvl="0" fontAlgn="ctr"/>
            <a:r>
              <a:rPr lang="en-US" sz="2400" dirty="0"/>
              <a:t>Python v2.0.0 (Added list comprehensions)	- 16th Oct’2000</a:t>
            </a:r>
          </a:p>
          <a:p>
            <a:pPr lvl="0" fontAlgn="ctr"/>
            <a:r>
              <a:rPr lang="en-US" sz="2400" dirty="0"/>
              <a:t>Python v2.7.0 					- 3rd Jul’2010</a:t>
            </a:r>
          </a:p>
          <a:p>
            <a:pPr lvl="0" fontAlgn="ctr"/>
            <a:r>
              <a:rPr lang="en-US" sz="2400" dirty="0"/>
              <a:t>Python v3.0.0					- 3rd Dec’2008</a:t>
            </a:r>
          </a:p>
          <a:p>
            <a:pPr lvl="0" fontAlgn="ctr"/>
            <a:r>
              <a:rPr lang="en-US" sz="2400" dirty="0"/>
              <a:t>Python v3.6.6					- Jun’2018</a:t>
            </a:r>
          </a:p>
          <a:p>
            <a:pPr lvl="0" fontAlgn="ctr"/>
            <a:r>
              <a:rPr lang="en-US" sz="2400" dirty="0" smtClean="0"/>
              <a:t>Python ………..</a:t>
            </a:r>
            <a:endParaRPr lang="en-US" sz="2400" dirty="0"/>
          </a:p>
          <a:p>
            <a:pPr lvl="0" fontAlgn="ctr"/>
            <a:r>
              <a:rPr lang="en-US" sz="2400" dirty="0" smtClean="0">
                <a:solidFill>
                  <a:srgbClr val="FF0000"/>
                </a:solidFill>
              </a:rPr>
              <a:t>Python 3.14.x</a:t>
            </a:r>
            <a:r>
              <a:rPr lang="en-US" sz="2400" dirty="0">
                <a:solidFill>
                  <a:srgbClr val="FF0000"/>
                </a:solidFill>
              </a:rPr>
              <a:t>		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smtClean="0">
                <a:solidFill>
                  <a:srgbClr val="FF0000"/>
                </a:solidFill>
              </a:rPr>
              <a:t>DSR Murthy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498476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err="1" smtClean="0">
                <a:solidFill>
                  <a:srgbClr val="FF0000"/>
                </a:solidFill>
              </a:rPr>
              <a:t>Dr.</a:t>
            </a:r>
            <a:r>
              <a:rPr lang="en-IN" b="1" dirty="0" smtClean="0">
                <a:solidFill>
                  <a:srgbClr val="FF0000"/>
                </a:solidFill>
              </a:rPr>
              <a:t> DSR Murthy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05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452438" y="0"/>
            <a:ext cx="8240712" cy="460375"/>
          </a:xfrm>
          <a:solidFill>
            <a:srgbClr val="99CCFF"/>
          </a:solidFill>
        </p:spPr>
        <p:txBody>
          <a:bodyPr lIns="79729" tIns="39071" rIns="79729" bIns="39071">
            <a:spAutoFit/>
          </a:bodyPr>
          <a:lstStyle/>
          <a:p>
            <a:pPr>
              <a:tabLst>
                <a:tab pos="638769" algn="l"/>
                <a:tab pos="1277539" algn="l"/>
                <a:tab pos="1916308" algn="l"/>
                <a:tab pos="2555077" algn="l"/>
                <a:tab pos="3193847" algn="l"/>
                <a:tab pos="3832616" algn="l"/>
                <a:tab pos="4471386" algn="l"/>
                <a:tab pos="5110155" algn="l"/>
                <a:tab pos="5748924" algn="l"/>
                <a:tab pos="6387694" algn="l"/>
                <a:tab pos="7026463" algn="l"/>
                <a:tab pos="7665232" algn="l"/>
              </a:tabLst>
              <a:defRPr/>
            </a:pPr>
            <a:r>
              <a:rPr lang="en-GB" altLang="en-US" sz="2471" b="1" dirty="0">
                <a:solidFill>
                  <a:srgbClr val="FF0000"/>
                </a:solidFill>
              </a:rPr>
              <a:t>Why Use </a:t>
            </a:r>
            <a:r>
              <a:rPr lang="en-GB" altLang="en-US" sz="2471" b="1" dirty="0" smtClean="0">
                <a:solidFill>
                  <a:srgbClr val="FF0000"/>
                </a:solidFill>
              </a:rPr>
              <a:t>Python</a:t>
            </a:r>
            <a:r>
              <a:rPr lang="en-GB" altLang="en-US" sz="2471" b="1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48419" y="543502"/>
            <a:ext cx="9047162" cy="6025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 type="triangle" w="med" len="med"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marL="342900" indent="-342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Nimbus Roman No9 L"/>
                <a:ea typeface="msmincho"/>
                <a:cs typeface="msmincho"/>
              </a:rPr>
              <a:t>Python is object-oriented</a:t>
            </a:r>
          </a:p>
          <a:p>
            <a:pPr>
              <a:lnSpc>
                <a:spcPct val="150000"/>
              </a:lnSpc>
              <a:buSzPct val="57000"/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Nimbus Roman No9 L"/>
                <a:ea typeface="msmincho"/>
                <a:cs typeface="msmincho"/>
              </a:rPr>
              <a:t>Python supports polymorphism, operation overloading, and multiple inheritance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Nimbus Roman No9 L"/>
                <a:ea typeface="msmincho"/>
                <a:cs typeface="msmincho"/>
              </a:rPr>
              <a:t>It's free (open source)</a:t>
            </a:r>
          </a:p>
          <a:p>
            <a:pPr>
              <a:lnSpc>
                <a:spcPct val="150000"/>
              </a:lnSpc>
              <a:buSzPct val="57000"/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Nimbus Roman No9 L"/>
                <a:ea typeface="msmincho"/>
                <a:cs typeface="msmincho"/>
              </a:rPr>
              <a:t>Online Python community is huge </a:t>
            </a:r>
          </a:p>
          <a:p>
            <a:pPr>
              <a:lnSpc>
                <a:spcPct val="150000"/>
              </a:lnSpc>
              <a:buSzPct val="57000"/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Nimbus Roman No9 L"/>
                <a:ea typeface="msmincho"/>
                <a:cs typeface="msmincho"/>
              </a:rPr>
              <a:t>It's portable – Supported on mac , windows and Linux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Nimbus Roman No9 L"/>
                <a:ea typeface="msmincho"/>
                <a:cs typeface="msmincho"/>
              </a:rPr>
              <a:t>It's powerful</a:t>
            </a:r>
          </a:p>
          <a:p>
            <a:pPr>
              <a:lnSpc>
                <a:spcPct val="150000"/>
              </a:lnSpc>
              <a:buSzPct val="57000"/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Nimbus Roman No9 L"/>
                <a:ea typeface="msmincho"/>
                <a:cs typeface="msmincho"/>
              </a:rPr>
              <a:t>Dynamic typing</a:t>
            </a:r>
          </a:p>
          <a:p>
            <a:pPr>
              <a:lnSpc>
                <a:spcPct val="150000"/>
              </a:lnSpc>
              <a:buSzPct val="57000"/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Nimbus Roman No9 L"/>
                <a:ea typeface="msmincho"/>
                <a:cs typeface="msmincho"/>
              </a:rPr>
              <a:t>Built-in types and tools</a:t>
            </a:r>
          </a:p>
          <a:p>
            <a:pPr>
              <a:lnSpc>
                <a:spcPct val="150000"/>
              </a:lnSpc>
              <a:buSzPct val="57000"/>
              <a:buFont typeface="Arial" panose="020B0604020202020204" pitchFamily="34" charset="0"/>
              <a:buChar char="•"/>
            </a:pPr>
            <a:r>
              <a:rPr lang="en-GB" altLang="en-US" sz="2400" dirty="0" smtClean="0">
                <a:latin typeface="Nimbus Roman No9 L"/>
                <a:ea typeface="msmincho"/>
                <a:cs typeface="msmincho"/>
              </a:rPr>
              <a:t>Third </a:t>
            </a:r>
            <a:r>
              <a:rPr lang="en-GB" altLang="en-US" sz="2400" dirty="0">
                <a:latin typeface="Nimbus Roman No9 L"/>
                <a:ea typeface="msmincho"/>
                <a:cs typeface="msmincho"/>
              </a:rPr>
              <a:t>party utilities (e.g. Numeric, </a:t>
            </a:r>
            <a:r>
              <a:rPr lang="en-GB" altLang="en-US" sz="2400" dirty="0" err="1">
                <a:latin typeface="Nimbus Roman No9 L"/>
                <a:ea typeface="msmincho"/>
                <a:cs typeface="msmincho"/>
              </a:rPr>
              <a:t>NumPy</a:t>
            </a:r>
            <a:r>
              <a:rPr lang="en-GB" altLang="en-US" sz="2400" dirty="0">
                <a:latin typeface="Nimbus Roman No9 L"/>
                <a:ea typeface="msmincho"/>
                <a:cs typeface="msmincho"/>
              </a:rPr>
              <a:t>, </a:t>
            </a:r>
            <a:r>
              <a:rPr lang="en-GB" altLang="en-US" sz="2400" dirty="0" err="1">
                <a:latin typeface="Nimbus Roman No9 L"/>
                <a:ea typeface="msmincho"/>
                <a:cs typeface="msmincho"/>
              </a:rPr>
              <a:t>SciPy</a:t>
            </a:r>
            <a:r>
              <a:rPr lang="en-GB" altLang="en-US" sz="2400" dirty="0">
                <a:latin typeface="Nimbus Roman No9 L"/>
                <a:ea typeface="msmincho"/>
                <a:cs typeface="msmincho"/>
              </a:rPr>
              <a:t>)</a:t>
            </a:r>
          </a:p>
          <a:p>
            <a:pPr>
              <a:lnSpc>
                <a:spcPct val="150000"/>
              </a:lnSpc>
              <a:buSzPct val="57000"/>
              <a:buFont typeface="Arial" panose="020B0604020202020204" pitchFamily="34" charset="0"/>
              <a:buChar char="•"/>
            </a:pPr>
            <a:r>
              <a:rPr lang="en-GB" altLang="en-US" sz="2400" dirty="0">
                <a:latin typeface="Nimbus Roman No9 L"/>
                <a:ea typeface="msmincho"/>
                <a:cs typeface="msmincho"/>
              </a:rPr>
              <a:t>Automatic memory management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Python 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smtClean="0">
                <a:solidFill>
                  <a:srgbClr val="FF0000"/>
                </a:solidFill>
              </a:rPr>
              <a:t>DSR Murthy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808" y="651342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err="1" smtClean="0">
                <a:solidFill>
                  <a:srgbClr val="FF0000"/>
                </a:solidFill>
              </a:rPr>
              <a:t>Dr.</a:t>
            </a:r>
            <a:r>
              <a:rPr lang="en-IN" b="1" dirty="0" smtClean="0">
                <a:solidFill>
                  <a:srgbClr val="FF0000"/>
                </a:solidFill>
              </a:rPr>
              <a:t> DSR Murthy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93030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36575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FF00"/>
                </a:solidFill>
              </a:rPr>
              <a:t>Python 3.14 new features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14300" y="536575"/>
            <a:ext cx="8915400" cy="71096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1" dirty="0" smtClean="0"/>
              <a:t>Faster </a:t>
            </a:r>
            <a:r>
              <a:rPr lang="en-US" sz="2200" b="1" dirty="0" err="1" smtClean="0"/>
              <a:t>Cpython</a:t>
            </a:r>
            <a:r>
              <a:rPr lang="en-US" sz="2200" b="1" dirty="0" smtClean="0"/>
              <a:t>  </a:t>
            </a:r>
            <a:r>
              <a:rPr lang="en-US" sz="2200" dirty="0" smtClean="0"/>
              <a:t>- (10 to 60%  faster than 3.10 version)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1" dirty="0" smtClean="0"/>
              <a:t>Better error messaging </a:t>
            </a:r>
            <a:r>
              <a:rPr lang="en-US" sz="2200" dirty="0" smtClean="0"/>
              <a:t>(Interpreter points to exact expression that caused error – </a:t>
            </a:r>
            <a:r>
              <a:rPr lang="en-US" sz="2200" dirty="0" err="1" smtClean="0"/>
              <a:t>traceback</a:t>
            </a:r>
            <a:r>
              <a:rPr lang="en-US" sz="2200" dirty="0" smtClean="0"/>
              <a:t>.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1" dirty="0" err="1" smtClean="0"/>
              <a:t>add_note</a:t>
            </a:r>
            <a:r>
              <a:rPr lang="en-US" sz="2200" b="1" dirty="0" smtClean="0"/>
              <a:t>() </a:t>
            </a:r>
            <a:r>
              <a:rPr lang="en-US" sz="2200" dirty="0" smtClean="0"/>
              <a:t>exception  (</a:t>
            </a:r>
            <a:r>
              <a:rPr lang="en-US" sz="2200" dirty="0" err="1" smtClean="0"/>
              <a:t>e.add_note</a:t>
            </a:r>
            <a:r>
              <a:rPr lang="en-US" sz="2200" dirty="0" smtClean="0"/>
              <a:t>(‘some issue’)) which is available in </a:t>
            </a:r>
            <a:r>
              <a:rPr lang="en-US" sz="2200" dirty="0" err="1" smtClean="0"/>
              <a:t>traceback</a:t>
            </a:r>
            <a:endParaRPr lang="en-US" sz="2200" dirty="0" smtClean="0"/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1" dirty="0" smtClean="0"/>
              <a:t>Exception group </a:t>
            </a:r>
            <a:r>
              <a:rPr lang="en-US" sz="2200" dirty="0" smtClean="0"/>
              <a:t>and </a:t>
            </a:r>
            <a:r>
              <a:rPr lang="en-US" sz="2200" b="1" dirty="0" smtClean="0"/>
              <a:t>except* </a:t>
            </a:r>
            <a:r>
              <a:rPr lang="en-US" sz="2200" dirty="0" smtClean="0"/>
              <a:t>: make group and raise them together.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1" dirty="0" smtClean="0"/>
              <a:t>New features related to typing system.  </a:t>
            </a:r>
            <a:r>
              <a:rPr lang="en-US" sz="2200" dirty="0" err="1"/>
              <a:t>d</a:t>
            </a:r>
            <a:r>
              <a:rPr lang="en-US" sz="2200" dirty="0" err="1" smtClean="0"/>
              <a:t>ef</a:t>
            </a:r>
            <a:r>
              <a:rPr lang="en-US" sz="2200" dirty="0" smtClean="0"/>
              <a:t> Show(</a:t>
            </a:r>
            <a:r>
              <a:rPr lang="en-US" sz="2200" dirty="0" err="1" smtClean="0"/>
              <a:t>sql:literalStrig</a:t>
            </a:r>
            <a:r>
              <a:rPr lang="en-US" sz="2200" dirty="0" smtClean="0"/>
              <a:t>):void     - here only literal strings should be passed to </a:t>
            </a:r>
            <a:r>
              <a:rPr lang="en-US" sz="2200" dirty="0" err="1" smtClean="0"/>
              <a:t>sql</a:t>
            </a:r>
            <a:r>
              <a:rPr lang="en-US" sz="2200" dirty="0" smtClean="0"/>
              <a:t> so that type checker checks to avoid injection attacks.     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 smtClean="0"/>
              <a:t>New module is added called </a:t>
            </a:r>
            <a:r>
              <a:rPr lang="en-US" sz="2200" b="1" dirty="0" err="1" smtClean="0"/>
              <a:t>tomllib</a:t>
            </a:r>
            <a:r>
              <a:rPr lang="en-US" sz="2200" dirty="0" smtClean="0"/>
              <a:t> for support .</a:t>
            </a:r>
            <a:r>
              <a:rPr lang="en-US" sz="2200" dirty="0" err="1" smtClean="0"/>
              <a:t>toml</a:t>
            </a:r>
            <a:r>
              <a:rPr lang="en-US" sz="2200" dirty="0" smtClean="0"/>
              <a:t> configuration files which is used in build systems of python projects now.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1" dirty="0" err="1"/>
              <a:t>a</a:t>
            </a:r>
            <a:r>
              <a:rPr lang="en-US" sz="2200" b="1" dirty="0" err="1" smtClean="0"/>
              <a:t>syncio.taskGroup</a:t>
            </a:r>
            <a:r>
              <a:rPr lang="en-US" sz="2200" b="1" dirty="0" smtClean="0"/>
              <a:t>() </a:t>
            </a:r>
            <a:r>
              <a:rPr lang="en-US" sz="2200" dirty="0" smtClean="0"/>
              <a:t>is added  which holds group of tasks to execute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b="1" dirty="0" smtClean="0"/>
              <a:t>New math functions </a:t>
            </a:r>
            <a:r>
              <a:rPr lang="en-US" sz="2200" dirty="0" smtClean="0"/>
              <a:t>– </a:t>
            </a:r>
            <a:r>
              <a:rPr lang="en-US" sz="2200" dirty="0" err="1" smtClean="0"/>
              <a:t>math.cubert</a:t>
            </a:r>
            <a:r>
              <a:rPr lang="en-US" sz="2200" dirty="0" smtClean="0"/>
              <a:t>(8)  and math.exp2(4)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dirty="0" smtClean="0"/>
              <a:t>And many more at runtime level internally</a:t>
            </a:r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200" dirty="0" smtClean="0"/>
          </a:p>
          <a:p>
            <a:pPr marL="457200" lvl="0" indent="-4572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err="1" smtClean="0">
                <a:solidFill>
                  <a:srgbClr val="FF0000"/>
                </a:solidFill>
              </a:rPr>
              <a:t>Dr.</a:t>
            </a:r>
            <a:r>
              <a:rPr lang="en-IN" b="1" dirty="0" smtClean="0">
                <a:solidFill>
                  <a:srgbClr val="FF0000"/>
                </a:solidFill>
              </a:rPr>
              <a:t> DSR Murthy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5464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36575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FF00"/>
                </a:solidFill>
              </a:rPr>
              <a:t>Project Creation with environment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685800"/>
            <a:ext cx="86868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dirty="0" smtClean="0"/>
              <a:t>:&gt;md </a:t>
            </a:r>
            <a:r>
              <a:rPr lang="en-US" sz="2400" dirty="0" err="1" smtClean="0"/>
              <a:t>pythontraining</a:t>
            </a:r>
            <a:endParaRPr lang="en-US" sz="2400" dirty="0" smtClean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dirty="0" smtClean="0"/>
              <a:t>:\&gt; cd </a:t>
            </a:r>
            <a:r>
              <a:rPr lang="en-US" sz="2400" dirty="0" err="1" smtClean="0"/>
              <a:t>pythontraining</a:t>
            </a:r>
            <a:r>
              <a:rPr lang="en-US" sz="2400" dirty="0" smtClean="0"/>
              <a:t>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dirty="0" smtClean="0"/>
              <a:t>:\pythontraning&gt;python –m </a:t>
            </a:r>
            <a:r>
              <a:rPr lang="en-US" sz="2400" dirty="0" err="1" smtClean="0"/>
              <a:t>venv</a:t>
            </a:r>
            <a:r>
              <a:rPr lang="en-US" sz="2400" dirty="0" smtClean="0"/>
              <a:t>  </a:t>
            </a:r>
            <a:r>
              <a:rPr lang="en-US" sz="2400" dirty="0" err="1" smtClean="0"/>
              <a:t>venv</a:t>
            </a:r>
            <a:r>
              <a:rPr lang="en-US" sz="2400" dirty="0" smtClean="0"/>
              <a:t>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dirty="0" smtClean="0"/>
              <a:t>:\pythontraining&gt; cd </a:t>
            </a:r>
            <a:r>
              <a:rPr lang="en-US" sz="2400" dirty="0" err="1" smtClean="0"/>
              <a:t>venv</a:t>
            </a:r>
            <a:r>
              <a:rPr lang="en-US" sz="2400" dirty="0" smtClean="0"/>
              <a:t>/scripts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dirty="0" smtClean="0"/>
              <a:t>:\pythontraining&gt; activate.bat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en-US" sz="2400" dirty="0" err="1"/>
              <a:t>venv</a:t>
            </a:r>
            <a:r>
              <a:rPr lang="en-US" sz="2400" dirty="0"/>
              <a:t>) c:\</a:t>
            </a:r>
            <a:r>
              <a:rPr lang="en-US" sz="2400" dirty="0" smtClean="0"/>
              <a:t>pythontraining\calcapp&gt;python –V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en-US" sz="2400" dirty="0" err="1"/>
              <a:t>venv</a:t>
            </a:r>
            <a:r>
              <a:rPr lang="en-US" sz="2400" dirty="0"/>
              <a:t>) c:\pythontraining\calcapp&gt;pip </a:t>
            </a:r>
            <a:r>
              <a:rPr lang="en-US" sz="2400" dirty="0" smtClean="0"/>
              <a:t>--version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en-US" sz="2400" dirty="0" err="1" smtClean="0"/>
              <a:t>venv</a:t>
            </a:r>
            <a:r>
              <a:rPr lang="en-US" sz="2400" dirty="0" smtClean="0"/>
              <a:t>) c:\pythontraining\calcapp&gt;pip install requests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en-US" sz="2400" dirty="0" err="1"/>
              <a:t>venv</a:t>
            </a:r>
            <a:r>
              <a:rPr lang="en-US" sz="2400" dirty="0"/>
              <a:t>) c:\</a:t>
            </a:r>
            <a:r>
              <a:rPr lang="en-US" sz="2400" dirty="0" smtClean="0"/>
              <a:t>pythontraining&gt;pip freeze &gt; requirements.txt</a:t>
            </a:r>
            <a:endParaRPr lang="en-US" sz="2400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en-US" sz="2400" dirty="0" err="1"/>
              <a:t>venv</a:t>
            </a:r>
            <a:r>
              <a:rPr lang="en-US" sz="2400" dirty="0"/>
              <a:t>) c:\</a:t>
            </a:r>
            <a:r>
              <a:rPr lang="en-US" sz="2400" dirty="0" smtClean="0"/>
              <a:t>pythontraining\calcapp&gt;venv/scripts/deactivate.bat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err="1" smtClean="0">
                <a:solidFill>
                  <a:srgbClr val="FF0000"/>
                </a:solidFill>
              </a:rPr>
              <a:t>Dr.</a:t>
            </a:r>
            <a:r>
              <a:rPr lang="en-IN" b="1" dirty="0" smtClean="0">
                <a:solidFill>
                  <a:srgbClr val="FF0000"/>
                </a:solidFill>
              </a:rPr>
              <a:t> DSR Murthy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5794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36575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FF00"/>
                </a:solidFill>
              </a:rPr>
              <a:t>Project Creation with environment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685800"/>
            <a:ext cx="86868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dirty="0" smtClean="0"/>
              <a:t>:&gt;md </a:t>
            </a:r>
            <a:r>
              <a:rPr lang="en-US" sz="2400" dirty="0" err="1" smtClean="0"/>
              <a:t>bankapi</a:t>
            </a:r>
            <a:endParaRPr lang="en-US" sz="2400" dirty="0" smtClean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dirty="0" smtClean="0"/>
              <a:t>:\&gt; cd </a:t>
            </a:r>
            <a:r>
              <a:rPr lang="en-US" sz="2400" dirty="0" err="1" smtClean="0"/>
              <a:t>bankapi</a:t>
            </a:r>
            <a:endParaRPr lang="en-US" sz="2400" dirty="0" smtClean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dirty="0" smtClean="0"/>
              <a:t>:\bankapi&gt;python –m </a:t>
            </a:r>
            <a:r>
              <a:rPr lang="en-US" sz="2400" dirty="0" err="1" smtClean="0"/>
              <a:t>venv</a:t>
            </a:r>
            <a:r>
              <a:rPr lang="en-US" sz="2400" dirty="0" smtClean="0"/>
              <a:t>  </a:t>
            </a:r>
            <a:r>
              <a:rPr lang="en-US" sz="2400" dirty="0" err="1" smtClean="0"/>
              <a:t>env</a:t>
            </a:r>
            <a:r>
              <a:rPr lang="en-US" sz="2400" dirty="0" smtClean="0"/>
              <a:t> 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c</a:t>
            </a:r>
            <a:r>
              <a:rPr lang="en-US" sz="2400" dirty="0" smtClean="0"/>
              <a:t>:\bankapi&gt; cd </a:t>
            </a:r>
            <a:r>
              <a:rPr lang="en-US" sz="2400" dirty="0" err="1" smtClean="0"/>
              <a:t>env</a:t>
            </a:r>
            <a:r>
              <a:rPr lang="en-US" sz="2400" dirty="0" smtClean="0"/>
              <a:t>     &amp;        (cd scripts)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C:\bankapi\env\scripts&gt; activate</a:t>
            </a: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(</a:t>
            </a:r>
            <a:r>
              <a:rPr lang="en-US" sz="2400" dirty="0" err="1" smtClean="0"/>
              <a:t>env</a:t>
            </a:r>
            <a:r>
              <a:rPr lang="en-US" sz="2400" dirty="0" smtClean="0"/>
              <a:t>) c:\bankapi&gt;pip install </a:t>
            </a:r>
            <a:r>
              <a:rPr lang="en-US" sz="2400" dirty="0" err="1" smtClean="0"/>
              <a:t>fastapi</a:t>
            </a:r>
            <a:endParaRPr lang="en-US" sz="2400" dirty="0" smtClean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(</a:t>
            </a:r>
            <a:r>
              <a:rPr lang="en-US" sz="2400" dirty="0" err="1" smtClean="0"/>
              <a:t>env</a:t>
            </a:r>
            <a:r>
              <a:rPr lang="en-US" sz="2400" dirty="0"/>
              <a:t>) c</a:t>
            </a:r>
            <a:r>
              <a:rPr lang="en-US" sz="2400" dirty="0" smtClean="0"/>
              <a:t>:\bankapi&gt;pip freeze &gt; requirements.txt</a:t>
            </a:r>
            <a:endParaRPr lang="en-US" sz="2400" dirty="0"/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(</a:t>
            </a:r>
            <a:r>
              <a:rPr lang="en-US" sz="2400" dirty="0" err="1"/>
              <a:t>e</a:t>
            </a:r>
            <a:r>
              <a:rPr lang="en-US" sz="2400" dirty="0" err="1" smtClean="0"/>
              <a:t>env</a:t>
            </a:r>
            <a:r>
              <a:rPr lang="en-US" sz="2400" dirty="0"/>
              <a:t>) c</a:t>
            </a:r>
            <a:r>
              <a:rPr lang="en-US" sz="2400" dirty="0" smtClean="0"/>
              <a:t>:\bankapi&gt;venv/scripts/deactivate.bat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err="1" smtClean="0">
                <a:solidFill>
                  <a:srgbClr val="FF0000"/>
                </a:solidFill>
              </a:rPr>
              <a:t>Dr.</a:t>
            </a:r>
            <a:r>
              <a:rPr lang="en-IN" b="1" dirty="0" smtClean="0">
                <a:solidFill>
                  <a:srgbClr val="FF0000"/>
                </a:solidFill>
              </a:rPr>
              <a:t> DSR Murthy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2096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/>
          <p:cNvSpPr>
            <a:spLocks noGrp="1"/>
          </p:cNvSpPr>
          <p:nvPr>
            <p:ph type="title"/>
          </p:nvPr>
        </p:nvSpPr>
        <p:spPr>
          <a:xfrm>
            <a:off x="0" y="22744"/>
            <a:ext cx="9144000" cy="377259"/>
          </a:xfrm>
        </p:spPr>
        <p:txBody>
          <a:bodyPr>
            <a:no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Virtual </a:t>
            </a:r>
            <a:r>
              <a:rPr lang="en-US" sz="2400" dirty="0">
                <a:solidFill>
                  <a:srgbClr val="FF0000"/>
                </a:solidFill>
              </a:rPr>
              <a:t>E</a:t>
            </a:r>
            <a:r>
              <a:rPr lang="en-US" sz="2400" dirty="0" smtClean="0">
                <a:solidFill>
                  <a:srgbClr val="FF0000"/>
                </a:solidFill>
              </a:rPr>
              <a:t>nvironment in Python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Can 4"/>
          <p:cNvSpPr/>
          <p:nvPr/>
        </p:nvSpPr>
        <p:spPr>
          <a:xfrm>
            <a:off x="798400" y="3684302"/>
            <a:ext cx="2489703" cy="294237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1607178" y="3892531"/>
            <a:ext cx="12312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BankApp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7" name="Can 6"/>
          <p:cNvSpPr/>
          <p:nvPr/>
        </p:nvSpPr>
        <p:spPr>
          <a:xfrm>
            <a:off x="5387465" y="3832751"/>
            <a:ext cx="2489703" cy="2942376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941237" y="3963065"/>
            <a:ext cx="1619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CustomerApp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77330" y="947861"/>
            <a:ext cx="1901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Python 3.14.4</a:t>
            </a:r>
          </a:p>
          <a:p>
            <a:r>
              <a:rPr lang="en-US" dirty="0" smtClean="0"/>
              <a:t>Python 3.10.5</a:t>
            </a:r>
          </a:p>
          <a:p>
            <a:r>
              <a:rPr lang="en-US" dirty="0" smtClean="0"/>
              <a:t>Python 3.8.5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352171" y="4638450"/>
            <a:ext cx="19012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Python 3.14.4</a:t>
            </a:r>
          </a:p>
          <a:p>
            <a:r>
              <a:rPr lang="en-US" dirty="0" err="1" smtClean="0"/>
              <a:t>sdk</a:t>
            </a: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Flask </a:t>
            </a:r>
          </a:p>
          <a:p>
            <a:r>
              <a:rPr lang="en-US" dirty="0" smtClean="0"/>
              <a:t>Requests</a:t>
            </a:r>
          </a:p>
          <a:p>
            <a:r>
              <a:rPr lang="en-US" dirty="0" smtClean="0"/>
              <a:t>………..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800153" y="4678258"/>
            <a:ext cx="19012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Python 3.8.5</a:t>
            </a:r>
          </a:p>
          <a:p>
            <a:endParaRPr lang="en-US" dirty="0"/>
          </a:p>
          <a:p>
            <a:r>
              <a:rPr lang="en-US" dirty="0" err="1" smtClean="0"/>
              <a:t>Django</a:t>
            </a:r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pipfile</a:t>
            </a:r>
            <a:endParaRPr lang="en-US" dirty="0"/>
          </a:p>
        </p:txBody>
      </p:sp>
      <p:sp>
        <p:nvSpPr>
          <p:cNvPr id="12" name="Can 11"/>
          <p:cNvSpPr/>
          <p:nvPr/>
        </p:nvSpPr>
        <p:spPr>
          <a:xfrm>
            <a:off x="3243346" y="1910144"/>
            <a:ext cx="2381060" cy="1341810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796567" y="1896611"/>
            <a:ext cx="16190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Global module</a:t>
            </a:r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70762" y="567043"/>
            <a:ext cx="39533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1.venv    </a:t>
            </a:r>
            <a:r>
              <a:rPr lang="en-US" dirty="0"/>
              <a:t>module    (</a:t>
            </a:r>
            <a:r>
              <a:rPr lang="en-US" dirty="0" smtClean="0"/>
              <a:t>requirements.txt)</a:t>
            </a:r>
          </a:p>
          <a:p>
            <a:r>
              <a:rPr lang="en-US" dirty="0" smtClean="0"/>
              <a:t>     &gt; python –m </a:t>
            </a:r>
            <a:r>
              <a:rPr lang="en-US" dirty="0" err="1" smtClean="0"/>
              <a:t>venv</a:t>
            </a:r>
            <a:r>
              <a:rPr lang="en-US" dirty="0" smtClean="0"/>
              <a:t>   </a:t>
            </a:r>
            <a:r>
              <a:rPr lang="en-US" dirty="0" err="1" smtClean="0"/>
              <a:t>myenv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2. pip install </a:t>
            </a:r>
            <a:r>
              <a:rPr lang="en-US" dirty="0" err="1" smtClean="0"/>
              <a:t>virtualenv</a:t>
            </a:r>
            <a:endParaRPr lang="en-US" dirty="0" smtClean="0"/>
          </a:p>
          <a:p>
            <a:r>
              <a:rPr lang="en-US" dirty="0" smtClean="0"/>
              <a:t>    &gt;</a:t>
            </a:r>
            <a:r>
              <a:rPr lang="en-US" dirty="0" err="1" smtClean="0"/>
              <a:t>virtualenv</a:t>
            </a:r>
            <a:r>
              <a:rPr lang="en-US" dirty="0" smtClean="0"/>
              <a:t>  </a:t>
            </a:r>
            <a:r>
              <a:rPr lang="en-US" dirty="0" err="1" smtClean="0"/>
              <a:t>myenv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3.   </a:t>
            </a:r>
            <a:r>
              <a:rPr lang="en-US" dirty="0" err="1" smtClean="0"/>
              <a:t>Pipenv</a:t>
            </a:r>
            <a:r>
              <a:rPr lang="en-US" dirty="0" smtClean="0"/>
              <a:t>  (pip install </a:t>
            </a:r>
            <a:r>
              <a:rPr lang="en-US" dirty="0" err="1" smtClean="0"/>
              <a:t>pipenv</a:t>
            </a:r>
            <a:r>
              <a:rPr lang="en-US" dirty="0" smtClean="0"/>
              <a:t>)</a:t>
            </a:r>
          </a:p>
          <a:p>
            <a:r>
              <a:rPr lang="en-US" dirty="0" smtClean="0"/>
              <a:t>    &gt;</a:t>
            </a:r>
            <a:r>
              <a:rPr lang="en-US" dirty="0" err="1" smtClean="0"/>
              <a:t>pipenv</a:t>
            </a:r>
            <a:r>
              <a:rPr lang="en-US" dirty="0" smtClean="0"/>
              <a:t> shell</a:t>
            </a:r>
          </a:p>
          <a:p>
            <a:r>
              <a:rPr lang="en-US" dirty="0" err="1" smtClean="0"/>
              <a:t>pipfile</a:t>
            </a:r>
            <a:r>
              <a:rPr lang="en-US" dirty="0" smtClean="0"/>
              <a:t> is like </a:t>
            </a:r>
            <a:r>
              <a:rPr lang="en-US" dirty="0" err="1" smtClean="0"/>
              <a:t>package.json</a:t>
            </a:r>
            <a:endParaRPr lang="en-US" dirty="0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3339872" y="3142325"/>
            <a:ext cx="836663" cy="790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5015470" y="3142325"/>
            <a:ext cx="784683" cy="6904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727944" y="2453196"/>
            <a:ext cx="3443394" cy="123110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Bahnschrift" panose="020B0502040204020203" pitchFamily="34" charset="0"/>
              </a:rPr>
              <a:t>To create virtual environment for </a:t>
            </a:r>
          </a:p>
          <a:p>
            <a:r>
              <a:rPr lang="en-US" sz="1400" dirty="0" smtClean="0">
                <a:latin typeface="Bahnschrift" panose="020B0502040204020203" pitchFamily="34" charset="0"/>
              </a:rPr>
              <a:t>particular version: example 3.9</a:t>
            </a:r>
            <a:endParaRPr lang="en-US" sz="1400" dirty="0">
              <a:latin typeface="Bahnschrift" panose="020B0502040204020203" pitchFamily="34" charset="0"/>
            </a:endParaRPr>
          </a:p>
          <a:p>
            <a:endParaRPr lang="en-US" sz="1400" dirty="0" smtClean="0">
              <a:latin typeface="Bahnschrift" panose="020B0502040204020203" pitchFamily="34" charset="0"/>
            </a:endParaRPr>
          </a:p>
          <a:p>
            <a:pPr lvl="0"/>
            <a:r>
              <a:rPr lang="en-US" sz="1400" dirty="0" smtClean="0">
                <a:latin typeface="Bahnschrift" panose="020B0502040204020203" pitchFamily="34" charset="0"/>
              </a:rPr>
              <a:t>$ </a:t>
            </a:r>
            <a:r>
              <a:rPr lang="en-US" sz="1400" dirty="0" err="1">
                <a:solidFill>
                  <a:srgbClr val="0C0D0E"/>
                </a:solidFill>
                <a:latin typeface="Bahnschrift" panose="020B0502040204020203" pitchFamily="34" charset="0"/>
              </a:rPr>
              <a:t>virtualenv</a:t>
            </a:r>
            <a:r>
              <a:rPr lang="en-US" sz="1400" dirty="0">
                <a:solidFill>
                  <a:srgbClr val="0C0D0E"/>
                </a:solidFill>
                <a:latin typeface="Bahnschrift" panose="020B0502040204020203" pitchFamily="34" charset="0"/>
              </a:rPr>
              <a:t> </a:t>
            </a:r>
            <a:r>
              <a:rPr lang="en-US" sz="1400" dirty="0" err="1" smtClean="0">
                <a:solidFill>
                  <a:srgbClr val="0C0D0E"/>
                </a:solidFill>
                <a:latin typeface="Bahnschrift" panose="020B0502040204020203" pitchFamily="34" charset="0"/>
              </a:rPr>
              <a:t>myenv</a:t>
            </a:r>
            <a:r>
              <a:rPr lang="en-US" sz="1400" dirty="0" smtClean="0">
                <a:solidFill>
                  <a:srgbClr val="0C0D0E"/>
                </a:solidFill>
                <a:latin typeface="Bahnschrift" panose="020B0502040204020203" pitchFamily="34" charset="0"/>
              </a:rPr>
              <a:t> </a:t>
            </a:r>
            <a:r>
              <a:rPr lang="en-US" sz="1400" dirty="0">
                <a:solidFill>
                  <a:srgbClr val="0C0D0E"/>
                </a:solidFill>
                <a:latin typeface="Bahnschrift" panose="020B0502040204020203" pitchFamily="34" charset="0"/>
              </a:rPr>
              <a:t>--</a:t>
            </a:r>
            <a:r>
              <a:rPr lang="en-US" sz="1400" dirty="0" smtClean="0">
                <a:solidFill>
                  <a:srgbClr val="0C0D0E"/>
                </a:solidFill>
                <a:latin typeface="Bahnschrift" panose="020B0502040204020203" pitchFamily="34" charset="0"/>
              </a:rPr>
              <a:t>python=python3.10</a:t>
            </a:r>
            <a:r>
              <a:rPr lang="en-US" sz="1400" dirty="0" smtClean="0">
                <a:latin typeface="Bahnschrift" panose="020B0502040204020203" pitchFamily="34" charset="0"/>
              </a:rPr>
              <a:t> </a:t>
            </a:r>
            <a:endParaRPr lang="en-US" sz="1400" dirty="0">
              <a:latin typeface="Bahnschrift" panose="020B0502040204020203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2314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536575"/>
          </a:xfrm>
          <a:solidFill>
            <a:srgbClr val="C00000"/>
          </a:solidFill>
        </p:spPr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FFFF00"/>
                </a:solidFill>
              </a:rPr>
              <a:t>Multiple versions o python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4800" y="685800"/>
            <a:ext cx="8686800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C:\&gt;where python                        (shows all installations of python)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C:\&gt; python –V                              (Current python version used)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C:\myapp&gt;python3.6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-m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venv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latin typeface="Consolas" panose="020B0609020204030204" pitchFamily="49" charset="0"/>
              </a:rPr>
              <a:t>env</a:t>
            </a:r>
            <a:endParaRPr lang="en-US" sz="2000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For particular version:   python version 3.10.8: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>
                <a:hlinkClick r:id="rId2"/>
              </a:rPr>
              <a:t>https://www.python.org/downloads/release/python-3108/</a:t>
            </a:r>
            <a:r>
              <a:rPr lang="en-US" sz="2000" dirty="0"/>
              <a:t>  </a:t>
            </a:r>
            <a:endParaRPr lang="en-US" sz="2000" dirty="0" smtClean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 smtClean="0"/>
              <a:t>    	 </a:t>
            </a:r>
            <a:r>
              <a:rPr lang="en-US" sz="2000" dirty="0"/>
              <a:t>(install 64bit </a:t>
            </a:r>
            <a:r>
              <a:rPr lang="en-US" sz="2000" dirty="0" err="1"/>
              <a:t>msi</a:t>
            </a:r>
            <a:r>
              <a:rPr lang="en-US" sz="2000" dirty="0"/>
              <a:t> file</a:t>
            </a:r>
            <a:r>
              <a:rPr lang="en-US" sz="2000" dirty="0" smtClean="0"/>
              <a:t>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/>
              <a:t>Reopen </a:t>
            </a:r>
            <a:r>
              <a:rPr lang="en-US" sz="2000" dirty="0" err="1"/>
              <a:t>cmd</a:t>
            </a:r>
            <a:r>
              <a:rPr lang="en-US" sz="2000" dirty="0"/>
              <a:t> to see new version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000" dirty="0" smtClean="0"/>
              <a:t>c:\myapp&gt;python3.10.8 </a:t>
            </a:r>
            <a:r>
              <a:rPr lang="en-US" sz="2000" dirty="0"/>
              <a:t>-m </a:t>
            </a:r>
            <a:r>
              <a:rPr lang="en-US" sz="2000" dirty="0" err="1"/>
              <a:t>venv</a:t>
            </a:r>
            <a:r>
              <a:rPr lang="en-US" sz="2000" dirty="0"/>
              <a:t>  </a:t>
            </a:r>
            <a:r>
              <a:rPr lang="en-US" sz="2000" dirty="0" err="1"/>
              <a:t>venv</a:t>
            </a:r>
            <a:r>
              <a:rPr lang="en-US" sz="2000" dirty="0"/>
              <a:t>            (create </a:t>
            </a:r>
            <a:r>
              <a:rPr lang="en-US" sz="2000" dirty="0" err="1"/>
              <a:t>venv</a:t>
            </a:r>
            <a:r>
              <a:rPr lang="en-US" sz="2000" dirty="0"/>
              <a:t> with 3.10</a:t>
            </a:r>
            <a:r>
              <a:rPr lang="en-US" sz="2000" dirty="0" smtClean="0"/>
              <a:t>)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000" dirty="0" smtClean="0"/>
          </a:p>
          <a:p>
            <a:pPr marL="457200" lvl="0" indent="-4572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err="1" smtClean="0">
                <a:solidFill>
                  <a:srgbClr val="FF0000"/>
                </a:solidFill>
              </a:rPr>
              <a:t>Dr.</a:t>
            </a:r>
            <a:r>
              <a:rPr lang="en-IN" b="1" dirty="0" smtClean="0">
                <a:solidFill>
                  <a:srgbClr val="FF0000"/>
                </a:solidFill>
              </a:rPr>
              <a:t> DSR Murthy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06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066800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>
                <a:effectLst/>
              </a:rPr>
              <a:t>1. </a:t>
            </a:r>
            <a:r>
              <a:rPr lang="en-US" altLang="en-US" sz="2800" dirty="0" err="1" smtClean="0">
                <a:effectLst/>
              </a:rPr>
              <a:t>PyDev</a:t>
            </a:r>
            <a:r>
              <a:rPr lang="en-US" altLang="en-US" sz="2800" dirty="0" smtClean="0">
                <a:effectLst/>
              </a:rPr>
              <a:t> with Eclipse 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>
                <a:effectLst/>
              </a:rPr>
              <a:t>2. </a:t>
            </a:r>
            <a:r>
              <a:rPr lang="en-US" altLang="en-US" sz="2800" dirty="0" smtClean="0"/>
              <a:t>Spider (Comes with Anaconda)</a:t>
            </a:r>
            <a:endParaRPr lang="en-US" altLang="en-US" sz="2800" dirty="0" smtClean="0">
              <a:effectLst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>
                <a:effectLst/>
              </a:rPr>
              <a:t>3. </a:t>
            </a:r>
            <a:r>
              <a:rPr lang="en-US" altLang="en-US" sz="2800" dirty="0" smtClean="0"/>
              <a:t>Visual Studio Code</a:t>
            </a:r>
            <a:endParaRPr lang="en-US" altLang="en-US" sz="2800" dirty="0" smtClean="0">
              <a:effectLst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>
                <a:effectLst/>
              </a:rPr>
              <a:t>4. Vim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>
                <a:effectLst/>
              </a:rPr>
              <a:t>5. </a:t>
            </a:r>
            <a:r>
              <a:rPr lang="en-US" altLang="en-US" sz="2800" dirty="0" err="1" smtClean="0">
                <a:effectLst/>
              </a:rPr>
              <a:t>TextMate</a:t>
            </a:r>
            <a:endParaRPr lang="en-US" altLang="en-US" sz="2800" dirty="0" smtClean="0">
              <a:effectLst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>
                <a:effectLst/>
              </a:rPr>
              <a:t>6. </a:t>
            </a:r>
            <a:r>
              <a:rPr lang="en-US" altLang="en-US" sz="2800" dirty="0" err="1" smtClean="0">
                <a:effectLst/>
              </a:rPr>
              <a:t>Gedit</a:t>
            </a:r>
            <a:endParaRPr lang="en-US" altLang="en-US" sz="2800" dirty="0" smtClean="0">
              <a:effectLst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>
                <a:effectLst/>
              </a:rPr>
              <a:t>7. Idle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/>
              <a:t>8.</a:t>
            </a:r>
            <a:r>
              <a:rPr lang="en-US" altLang="en-US" sz="2800" dirty="0" smtClean="0">
                <a:effectLst/>
              </a:rPr>
              <a:t> </a:t>
            </a:r>
            <a:r>
              <a:rPr lang="en-US" altLang="en-US" sz="2800" dirty="0" err="1" smtClean="0">
                <a:effectLst/>
              </a:rPr>
              <a:t>NotePad</a:t>
            </a:r>
            <a:r>
              <a:rPr lang="en-US" altLang="en-US" sz="2800" dirty="0" smtClean="0">
                <a:effectLst/>
              </a:rPr>
              <a:t>++ (Windows)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/>
              <a:t>9</a:t>
            </a:r>
            <a:r>
              <a:rPr lang="en-US" altLang="en-US" sz="2800" dirty="0" smtClean="0">
                <a:effectLst/>
              </a:rPr>
              <a:t>.BlueFish (Linux)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800" dirty="0" smtClean="0"/>
              <a:t>10</a:t>
            </a:r>
            <a:r>
              <a:rPr lang="en-US" altLang="en-US" sz="2800" dirty="0" smtClean="0">
                <a:effectLst/>
              </a:rPr>
              <a:t>.PyCharm (Licensed)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Development Environment (IDE’s)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488668"/>
            <a:ext cx="9144000" cy="369332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r"/>
            <a:r>
              <a:rPr lang="en-IN" b="1" dirty="0" err="1" smtClean="0">
                <a:solidFill>
                  <a:srgbClr val="FF0000"/>
                </a:solidFill>
              </a:rPr>
              <a:t>Dr.</a:t>
            </a:r>
            <a:r>
              <a:rPr lang="en-IN" b="1" dirty="0" smtClean="0">
                <a:solidFill>
                  <a:srgbClr val="FF0000"/>
                </a:solidFill>
              </a:rPr>
              <a:t> DSR Murthy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2985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9144" y="274320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Fast API</a:t>
            </a:r>
            <a:endParaRPr lang="en-US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261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62400" y="1752600"/>
            <a:ext cx="1524000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ENTRY.py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191000" y="6096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Swagger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4648200" y="978932"/>
            <a:ext cx="228600" cy="6974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657600" y="2198132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Configured API routes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571500" y="3124198"/>
            <a:ext cx="22098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Greet</a:t>
            </a:r>
          </a:p>
          <a:p>
            <a:pPr algn="ctr"/>
            <a:r>
              <a:rPr lang="en-US" dirty="0" smtClean="0"/>
              <a:t>Localhost:8000/greet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095244" y="3124198"/>
            <a:ext cx="278130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Customers</a:t>
            </a:r>
          </a:p>
          <a:p>
            <a:pPr algn="ctr"/>
            <a:r>
              <a:rPr lang="en-US" dirty="0" smtClean="0"/>
              <a:t>Localhost:8000/customers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089904" y="3124198"/>
            <a:ext cx="3054096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/>
              <a:t>Pruducts</a:t>
            </a:r>
            <a:endParaRPr lang="en-US" dirty="0" smtClean="0"/>
          </a:p>
          <a:p>
            <a:pPr algn="ctr"/>
            <a:r>
              <a:rPr lang="en-US" dirty="0" smtClean="0"/>
              <a:t>Localhost:8000/customers</a:t>
            </a:r>
            <a:endParaRPr lang="en-US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2743200" y="2286000"/>
            <a:ext cx="1676400" cy="685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876800" y="2438400"/>
            <a:ext cx="609600" cy="5334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181600" y="2057400"/>
            <a:ext cx="2362200" cy="10667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044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685800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en-US" sz="2200" b="1" dirty="0"/>
              <a:t>Definition</a:t>
            </a:r>
            <a:endParaRPr lang="en-US" sz="2200" dirty="0"/>
          </a:p>
          <a:p>
            <a:pPr lvl="1"/>
            <a:r>
              <a:rPr lang="en-US" sz="2200" dirty="0"/>
              <a:t>An API (Application Programming Interface) is essentially a set of rules and protocols that allows different software applications to communicate with each </a:t>
            </a:r>
            <a:r>
              <a:rPr lang="en-US" sz="2200" dirty="0" smtClean="0"/>
              <a:t>other.</a:t>
            </a:r>
          </a:p>
          <a:p>
            <a:pPr marL="457200" lvl="1" indent="0">
              <a:buNone/>
            </a:pPr>
            <a:endParaRPr lang="en-US" sz="2200" dirty="0"/>
          </a:p>
          <a:p>
            <a:pPr lvl="1"/>
            <a:r>
              <a:rPr lang="en-US" sz="2200" dirty="0"/>
              <a:t>It </a:t>
            </a:r>
            <a:r>
              <a:rPr lang="en-US" sz="2200" dirty="0" smtClean="0"/>
              <a:t>is a </a:t>
            </a:r>
            <a:r>
              <a:rPr lang="en-US" sz="2200" dirty="0"/>
              <a:t>bridge that connects different systems or services, enabling them to share data and functionalities without directly interacting with each other's underlying code</a:t>
            </a:r>
          </a:p>
          <a:p>
            <a:r>
              <a:rPr lang="en-US" sz="2200" dirty="0"/>
              <a:t>Ex: Weather app</a:t>
            </a:r>
            <a:endParaRPr lang="en-US" altLang="en-US" sz="2200" dirty="0" smtClean="0">
              <a:effectLst/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981700" y="5030645"/>
            <a:ext cx="609600" cy="99060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an 2"/>
          <p:cNvSpPr/>
          <p:nvPr/>
        </p:nvSpPr>
        <p:spPr>
          <a:xfrm>
            <a:off x="7277100" y="5147100"/>
            <a:ext cx="685800" cy="664885"/>
          </a:xfrm>
          <a:prstGeom prst="can">
            <a:avLst/>
          </a:prstGeom>
          <a:solidFill>
            <a:schemeClr val="accent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ight Arrow 4"/>
          <p:cNvSpPr/>
          <p:nvPr/>
        </p:nvSpPr>
        <p:spPr>
          <a:xfrm>
            <a:off x="6591300" y="5411645"/>
            <a:ext cx="685800" cy="263886"/>
          </a:xfrm>
          <a:prstGeom prst="rightArrow">
            <a:avLst/>
          </a:prstGeom>
          <a:solidFill>
            <a:srgbClr val="00B05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943100" y="4946086"/>
            <a:ext cx="609600" cy="53024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943100" y="5584538"/>
            <a:ext cx="609600" cy="530249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2606821" y="5411644"/>
            <a:ext cx="3374879" cy="267674"/>
          </a:xfrm>
          <a:prstGeom prst="rightArrow">
            <a:avLst/>
          </a:prstGeom>
          <a:solidFill>
            <a:srgbClr val="00B05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43006" y="5320681"/>
            <a:ext cx="1178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API Clients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641515" y="4601008"/>
            <a:ext cx="1280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ASGI Server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5943600" y="5029200"/>
            <a:ext cx="7239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</a:t>
            </a:r>
            <a:r>
              <a:rPr lang="en-US" sz="1400" dirty="0" smtClean="0"/>
              <a:t>et</a:t>
            </a:r>
          </a:p>
          <a:p>
            <a:r>
              <a:rPr lang="en-US" sz="1400" dirty="0"/>
              <a:t>p</a:t>
            </a:r>
            <a:r>
              <a:rPr lang="en-US" sz="1400" dirty="0" smtClean="0"/>
              <a:t>ost</a:t>
            </a:r>
          </a:p>
          <a:p>
            <a:r>
              <a:rPr lang="en-US" sz="1400" dirty="0"/>
              <a:t>p</a:t>
            </a:r>
            <a:r>
              <a:rPr lang="en-US" sz="1400" dirty="0" smtClean="0"/>
              <a:t>ut</a:t>
            </a:r>
          </a:p>
          <a:p>
            <a:r>
              <a:rPr lang="en-US" sz="1400" dirty="0"/>
              <a:t>d</a:t>
            </a:r>
            <a:r>
              <a:rPr lang="en-US" sz="1400" dirty="0" smtClean="0"/>
              <a:t>elete</a:t>
            </a:r>
          </a:p>
          <a:p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3726034" y="4861405"/>
            <a:ext cx="8867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API Call</a:t>
            </a:r>
          </a:p>
          <a:p>
            <a:pPr algn="ctr"/>
            <a:r>
              <a:rPr lang="en-US" dirty="0" smtClean="0"/>
              <a:t>Http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7129012" y="4822384"/>
            <a:ext cx="105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Database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330463" y="6019352"/>
            <a:ext cx="39030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/>
              <a:t>Fast API with </a:t>
            </a:r>
            <a:r>
              <a:rPr lang="en-US" sz="1600" dirty="0" err="1" smtClean="0"/>
              <a:t>starlette</a:t>
            </a:r>
            <a:r>
              <a:rPr lang="en-US" sz="1600" dirty="0" smtClean="0"/>
              <a:t> and </a:t>
            </a:r>
            <a:r>
              <a:rPr lang="en-US" sz="1600" dirty="0" err="1" smtClean="0"/>
              <a:t>Uvicorn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5678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Fast API with </a:t>
            </a:r>
            <a:r>
              <a:rPr lang="en-US" b="1" dirty="0" err="1" smtClean="0">
                <a:solidFill>
                  <a:srgbClr val="FFFF00"/>
                </a:solidFill>
              </a:rPr>
              <a:t>Starlette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190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76200" y="1143000"/>
            <a:ext cx="8763000" cy="3120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 dirty="0" err="1"/>
              <a:t>FastAPI</a:t>
            </a:r>
            <a:r>
              <a:rPr lang="en-US" sz="2400" dirty="0"/>
              <a:t> is built </a:t>
            </a:r>
            <a:r>
              <a:rPr lang="en-US" sz="2400" b="1" dirty="0"/>
              <a:t>on top of </a:t>
            </a:r>
            <a:r>
              <a:rPr lang="en-US" sz="2400" b="1" dirty="0" err="1"/>
              <a:t>Starlette</a:t>
            </a:r>
            <a:r>
              <a:rPr lang="en-US" sz="2400" dirty="0"/>
              <a:t>. </a:t>
            </a:r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 err="1" smtClean="0">
                <a:solidFill>
                  <a:srgbClr val="FF0000"/>
                </a:solidFill>
              </a:rPr>
              <a:t>Starlette</a:t>
            </a:r>
            <a:r>
              <a:rPr lang="en-US" sz="2400" dirty="0" smtClean="0"/>
              <a:t> provides the </a:t>
            </a:r>
            <a:r>
              <a:rPr lang="en-US" sz="2400" dirty="0"/>
              <a:t>ASGI framework, routing, middleware, and request/response </a:t>
            </a:r>
            <a:r>
              <a:rPr lang="en-US" sz="2400" dirty="0" smtClean="0"/>
              <a:t>handling</a:t>
            </a:r>
            <a:r>
              <a:rPr lang="en-US" sz="2400" dirty="0"/>
              <a:t>, while </a:t>
            </a:r>
            <a:r>
              <a:rPr lang="en-US" sz="2400" dirty="0" err="1"/>
              <a:t>FastAPI</a:t>
            </a:r>
            <a:r>
              <a:rPr lang="en-US" sz="2400" dirty="0"/>
              <a:t> adds API-focused features such as automatic validation, dependency injection, and </a:t>
            </a:r>
            <a:r>
              <a:rPr lang="en-US" sz="2400" dirty="0" err="1"/>
              <a:t>OpenAPI</a:t>
            </a:r>
            <a:r>
              <a:rPr lang="en-US" sz="2400" dirty="0"/>
              <a:t> documentation</a:t>
            </a:r>
            <a:r>
              <a:rPr lang="en-US" sz="2400" dirty="0" smtClean="0"/>
              <a:t>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30434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What is ASGI?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190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6096" y="482346"/>
            <a:ext cx="8763000" cy="6814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4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– Asynchronous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 – Server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G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 – Gateway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ea typeface="Calibri" panose="020F0502020204030204" pitchFamily="34" charset="0"/>
                <a:cs typeface="Times New Roman" panose="02020603050405020304" pitchFamily="18" charset="0"/>
              </a:rPr>
              <a:t> – Interface </a:t>
            </a:r>
            <a:endParaRPr lang="en-US" sz="2400" dirty="0"/>
          </a:p>
          <a:p>
            <a:pPr>
              <a:lnSpc>
                <a:spcPct val="120000"/>
              </a:lnSpc>
            </a:pPr>
            <a:endParaRPr lang="en-US" sz="2400" b="1" dirty="0">
              <a:solidFill>
                <a:srgbClr val="FF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400" b="1" dirty="0"/>
              <a:t>ASGI (Asynchronous Server Gateway Interface)</a:t>
            </a:r>
            <a:r>
              <a:rPr lang="en-US" sz="2400" dirty="0"/>
              <a:t> is the standard interface between </a:t>
            </a:r>
            <a:r>
              <a:rPr lang="en-US" sz="2400" b="1" dirty="0"/>
              <a:t>Python web applications/frameworks</a:t>
            </a:r>
            <a:r>
              <a:rPr lang="en-US" sz="2400" dirty="0"/>
              <a:t> and </a:t>
            </a:r>
            <a:r>
              <a:rPr lang="en-US" sz="2400" b="1" dirty="0"/>
              <a:t>web servers</a:t>
            </a:r>
            <a:r>
              <a:rPr lang="en-US" sz="2400" dirty="0"/>
              <a:t>. </a:t>
            </a:r>
            <a:endParaRPr lang="en-US" sz="2400" dirty="0" smtClean="0"/>
          </a:p>
          <a:p>
            <a:pPr>
              <a:lnSpc>
                <a:spcPct val="120000"/>
              </a:lnSpc>
            </a:pPr>
            <a:endParaRPr lang="en-US" sz="2400" dirty="0" smtClean="0"/>
          </a:p>
          <a:p>
            <a:pPr>
              <a:lnSpc>
                <a:spcPct val="120000"/>
              </a:lnSpc>
            </a:pPr>
            <a:r>
              <a:rPr lang="en-US" sz="2400" dirty="0" smtClean="0"/>
              <a:t>It </a:t>
            </a:r>
            <a:r>
              <a:rPr lang="en-US" sz="2400" dirty="0"/>
              <a:t>is the successor to </a:t>
            </a:r>
            <a:r>
              <a:rPr lang="en-US" sz="2400" dirty="0" smtClean="0"/>
              <a:t>WSGI (Web Service Gateway Interface) </a:t>
            </a:r>
            <a:r>
              <a:rPr lang="en-US" sz="2400" dirty="0"/>
              <a:t>and was designed to support </a:t>
            </a:r>
            <a:r>
              <a:rPr lang="en-US" sz="2400" dirty="0">
                <a:solidFill>
                  <a:srgbClr val="FF0000"/>
                </a:solidFill>
              </a:rPr>
              <a:t>asynchronous</a:t>
            </a:r>
            <a:r>
              <a:rPr lang="en-US" sz="2400" dirty="0"/>
              <a:t> programming</a:t>
            </a:r>
            <a:r>
              <a:rPr lang="en-US" sz="2400" dirty="0" smtClean="0"/>
              <a:t>.</a:t>
            </a:r>
          </a:p>
          <a:p>
            <a:pPr>
              <a:lnSpc>
                <a:spcPct val="120000"/>
              </a:lnSpc>
            </a:pPr>
            <a:endParaRPr lang="en-US" sz="2400" dirty="0"/>
          </a:p>
          <a:p>
            <a:pPr>
              <a:lnSpc>
                <a:spcPct val="120000"/>
              </a:lnSpc>
            </a:pPr>
            <a:r>
              <a:rPr lang="en-US" sz="2400" dirty="0"/>
              <a:t>An ASGI framework lets  application handle many client requests concurrently without blocking, making it well suited for modern web applications, APIs, </a:t>
            </a:r>
            <a:r>
              <a:rPr lang="en-US" sz="2400" dirty="0" err="1"/>
              <a:t>WebSockets</a:t>
            </a:r>
            <a:r>
              <a:rPr lang="en-US" sz="2400" dirty="0"/>
              <a:t>, and real-time services.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31332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ASGI Architecture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293364" y="1298648"/>
            <a:ext cx="2667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Client (Browser/Postman)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287268" y="2147215"/>
            <a:ext cx="2667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ea typeface="Times New Roman" panose="02020603050405020304" pitchFamily="18" charset="0"/>
                <a:cs typeface="Courier New" panose="02070309020205020404" pitchFamily="49" charset="0"/>
              </a:rPr>
              <a:t>HTTP/</a:t>
            </a:r>
            <a:r>
              <a:rPr lang="en-US" dirty="0" err="1" smtClean="0">
                <a:ea typeface="Times New Roman" panose="02020603050405020304" pitchFamily="18" charset="0"/>
                <a:cs typeface="Courier New" panose="02070309020205020404" pitchFamily="49" charset="0"/>
              </a:rPr>
              <a:t>WebSocket</a:t>
            </a:r>
            <a:r>
              <a:rPr lang="en-US" dirty="0" smtClean="0"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dirty="0">
                <a:ea typeface="Times New Roman" panose="02020603050405020304" pitchFamily="18" charset="0"/>
                <a:cs typeface="Courier New" panose="02070309020205020404" pitchFamily="49" charset="0"/>
              </a:rPr>
              <a:t>Request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293364" y="2892791"/>
            <a:ext cx="2667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err="1" smtClean="0">
                <a:ea typeface="Times New Roman" panose="02020603050405020304" pitchFamily="18" charset="0"/>
                <a:cs typeface="Courier New" panose="02070309020205020404" pitchFamily="49" charset="0"/>
              </a:rPr>
              <a:t>Uvicorn</a:t>
            </a:r>
            <a:r>
              <a:rPr lang="en-US" dirty="0" smtClean="0">
                <a:ea typeface="Times New Roman" panose="02020603050405020304" pitchFamily="18" charset="0"/>
                <a:cs typeface="Courier New" panose="02070309020205020404" pitchFamily="49" charset="0"/>
              </a:rPr>
              <a:t> (ASGI Server)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3325368" y="3612907"/>
            <a:ext cx="2667000" cy="64633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ea typeface="Times New Roman" panose="02020603050405020304" pitchFamily="18" charset="0"/>
                <a:cs typeface="Courier New" panose="02070309020205020404" pitchFamily="49" charset="0"/>
              </a:rPr>
              <a:t>Fast API/ </a:t>
            </a:r>
            <a:r>
              <a:rPr lang="en-US" dirty="0" err="1" smtClean="0">
                <a:ea typeface="Times New Roman" panose="02020603050405020304" pitchFamily="18" charset="0"/>
                <a:cs typeface="Courier New" panose="02070309020205020404" pitchFamily="49" charset="0"/>
              </a:rPr>
              <a:t>Starlette</a:t>
            </a:r>
            <a:endParaRPr lang="en-US" dirty="0" smtClean="0"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algn="ctr"/>
            <a:r>
              <a:rPr lang="en-US" dirty="0" smtClean="0">
                <a:cs typeface="Courier New" panose="02070309020205020404" pitchFamily="49" charset="0"/>
              </a:rPr>
              <a:t>ASGI Framework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325368" y="4578142"/>
            <a:ext cx="2667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ea typeface="Times New Roman" panose="02020603050405020304" pitchFamily="18" charset="0"/>
                <a:cs typeface="Courier New" panose="02070309020205020404" pitchFamily="49" charset="0"/>
              </a:rPr>
              <a:t>Business Logic/DB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325368" y="5334000"/>
            <a:ext cx="2667000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>
                <a:ea typeface="Times New Roman" panose="02020603050405020304" pitchFamily="18" charset="0"/>
                <a:cs typeface="Courier New" panose="02070309020205020404" pitchFamily="49" charset="0"/>
              </a:rPr>
              <a:t>Http Response</a:t>
            </a:r>
            <a:endParaRPr lang="en-US" dirty="0"/>
          </a:p>
        </p:txBody>
      </p:sp>
      <p:sp>
        <p:nvSpPr>
          <p:cNvPr id="5" name="Down Arrow 4"/>
          <p:cNvSpPr/>
          <p:nvPr/>
        </p:nvSpPr>
        <p:spPr>
          <a:xfrm>
            <a:off x="4544568" y="1667980"/>
            <a:ext cx="228600" cy="500833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own Arrow 12"/>
          <p:cNvSpPr/>
          <p:nvPr/>
        </p:nvSpPr>
        <p:spPr>
          <a:xfrm>
            <a:off x="4578096" y="2555338"/>
            <a:ext cx="195072" cy="333591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Down Arrow 13"/>
          <p:cNvSpPr/>
          <p:nvPr/>
        </p:nvSpPr>
        <p:spPr>
          <a:xfrm>
            <a:off x="4581144" y="3283178"/>
            <a:ext cx="195072" cy="333591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4629912" y="4259238"/>
            <a:ext cx="195072" cy="333591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>
            <a:off x="4658868" y="4973941"/>
            <a:ext cx="195072" cy="333591"/>
          </a:xfrm>
          <a:prstGeom prst="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158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 smtClean="0">
                <a:solidFill>
                  <a:srgbClr val="FFFF00"/>
                </a:solidFill>
              </a:rPr>
              <a:t>Starlette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</a:rPr>
              <a:t>vs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</a:rPr>
              <a:t>FastAPI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190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69515"/>
              </p:ext>
            </p:extLst>
          </p:nvPr>
        </p:nvGraphicFramePr>
        <p:xfrm>
          <a:off x="228600" y="838200"/>
          <a:ext cx="8686800" cy="554675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362200"/>
                <a:gridCol w="2895600"/>
                <a:gridCol w="3429000"/>
              </a:tblGrid>
              <a:tr h="27683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Feature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Starlette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FastAPI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Purpose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Lightweight ASGI framework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High-level API framework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Built 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ASGI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 err="1">
                          <a:effectLst/>
                        </a:rPr>
                        <a:t>Starlette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545998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Route Declaration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Route() objects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@</a:t>
                      </a:r>
                      <a:r>
                        <a:rPr lang="en-US" sz="1800" dirty="0" err="1">
                          <a:effectLst/>
                        </a:rPr>
                        <a:t>app.get</a:t>
                      </a:r>
                      <a:r>
                        <a:rPr lang="en-US" sz="1800" dirty="0">
                          <a:effectLst/>
                        </a:rPr>
                        <a:t>(), @</a:t>
                      </a:r>
                      <a:r>
                        <a:rPr lang="en-US" sz="1800" dirty="0" err="1">
                          <a:effectLst/>
                        </a:rPr>
                        <a:t>app.post</a:t>
                      </a:r>
                      <a:r>
                        <a:rPr lang="en-US" sz="1800" dirty="0">
                          <a:effectLst/>
                        </a:rPr>
                        <a:t>() decorators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Data Validation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Manual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Automatic using </a:t>
                      </a:r>
                      <a:r>
                        <a:rPr lang="en-US" sz="1800" dirty="0" err="1">
                          <a:effectLst/>
                        </a:rPr>
                        <a:t>Pydantic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Type Hints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Optional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Core feature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OpenAPI/Swagger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❌ Not built in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✅ Automatic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ReDoc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❌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✅ Automatic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Dependency Injection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❌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✅ Built-in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Request Parsing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Manual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Automatic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Response Models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❌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✅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Authentication Utilities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Manual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Rich ecosystem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Middleware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✅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✅ (inherits </a:t>
                      </a:r>
                      <a:r>
                        <a:rPr lang="en-US" sz="1800" dirty="0" err="1">
                          <a:effectLst/>
                        </a:rPr>
                        <a:t>Starlette</a:t>
                      </a:r>
                      <a:r>
                        <a:rPr lang="en-US" sz="1800" dirty="0">
                          <a:effectLst/>
                        </a:rPr>
                        <a:t>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Background Tasks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✅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✅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WebSockets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✅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✅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Performance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Excellent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Excellent (very similar)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  <a:tr h="27683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Learning Curve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>
                          <a:effectLst/>
                        </a:rPr>
                        <a:t>Lower-level</a:t>
                      </a:r>
                      <a:endParaRPr lang="en-US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Easier for API development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7173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 smtClean="0">
                <a:solidFill>
                  <a:srgbClr val="FFFF00"/>
                </a:solidFill>
              </a:rPr>
              <a:t>Starlette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190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832104"/>
            <a:ext cx="86868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ea typeface="Times New Roman" panose="02020603050405020304" pitchFamily="18" charset="0"/>
              </a:rPr>
              <a:t>Both frameworks are built on </a:t>
            </a:r>
            <a:r>
              <a:rPr lang="en-US" sz="2000" dirty="0" err="1">
                <a:ea typeface="Times New Roman" panose="02020603050405020304" pitchFamily="18" charset="0"/>
              </a:rPr>
              <a:t>Starlette</a:t>
            </a:r>
            <a:r>
              <a:rPr lang="en-US" sz="2000" dirty="0">
                <a:ea typeface="Times New Roman" panose="02020603050405020304" pitchFamily="18" charset="0"/>
              </a:rPr>
              <a:t> and are extremely fast. In most real-world applications, performance differences are negligible.</a:t>
            </a:r>
            <a:endParaRPr 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0000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000" dirty="0" smtClean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to Choose </a:t>
            </a:r>
            <a:r>
              <a:rPr lang="en-US" sz="2000" dirty="0" err="1" smtClean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Starlette</a:t>
            </a:r>
            <a:r>
              <a:rPr lang="en-US" sz="2000" dirty="0" smtClean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ea typeface="Times New Roman" panose="02020603050405020304" pitchFamily="18" charset="0"/>
              </a:rPr>
              <a:t>Choose </a:t>
            </a:r>
            <a:r>
              <a:rPr lang="en-US" sz="2000" b="1" dirty="0" err="1">
                <a:ea typeface="Times New Roman" panose="02020603050405020304" pitchFamily="18" charset="0"/>
              </a:rPr>
              <a:t>Starlette</a:t>
            </a:r>
            <a:r>
              <a:rPr lang="en-US" sz="2000" dirty="0">
                <a:ea typeface="Times New Roman" panose="02020603050405020304" pitchFamily="18" charset="0"/>
              </a:rPr>
              <a:t> if you are building:</a:t>
            </a:r>
            <a:endParaRPr lang="en-US" sz="20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A lightweight ASGI application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Middleware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err="1">
                <a:ea typeface="Calibri" panose="020F0502020204030204" pitchFamily="34" charset="0"/>
                <a:cs typeface="Times New Roman" panose="02020603050405020304" pitchFamily="18" charset="0"/>
              </a:rPr>
              <a:t>WebSocket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 servers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A custom framework 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A low-level </a:t>
            </a:r>
            <a:r>
              <a:rPr lang="en-US" sz="2000" dirty="0" err="1">
                <a:ea typeface="Calibri" panose="020F0502020204030204" pitchFamily="34" charset="0"/>
                <a:cs typeface="Times New Roman" panose="02020603050405020304" pitchFamily="18" charset="0"/>
              </a:rPr>
              <a:t>async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 service where you want full control 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033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 smtClean="0">
                <a:solidFill>
                  <a:srgbClr val="FFFF00"/>
                </a:solidFill>
              </a:rPr>
              <a:t>FastAPI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190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04800" y="832104"/>
            <a:ext cx="8686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smtClean="0"/>
              <a:t>Choose </a:t>
            </a:r>
            <a:r>
              <a:rPr lang="en-US" sz="2000" b="1" dirty="0" err="1"/>
              <a:t>FastAPI</a:t>
            </a:r>
            <a:r>
              <a:rPr lang="en-US" sz="2000" dirty="0"/>
              <a:t> </a:t>
            </a:r>
            <a:r>
              <a:rPr lang="en-US" sz="2000" dirty="0" smtClean="0"/>
              <a:t>for:</a:t>
            </a:r>
            <a:endParaRPr lang="en-US" sz="2000" dirty="0"/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REST APIs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/>
              <a:t>Microservices</a:t>
            </a:r>
            <a:r>
              <a:rPr lang="en-US" sz="2000" dirty="0"/>
              <a:t>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Backend services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AI/ML model serving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Enterprise APIs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CRUD applications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Projects that benefit from automatic validation and documentation </a:t>
            </a:r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8454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 smtClean="0">
                <a:solidFill>
                  <a:srgbClr val="FFFF00"/>
                </a:solidFill>
              </a:rPr>
              <a:t>FastAPI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</a:rPr>
              <a:t>vs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</a:rPr>
              <a:t>Starlette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190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190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77368" y="609600"/>
            <a:ext cx="88392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Advantages of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sz="20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Automatic request validation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Automatic </a:t>
            </a:r>
            <a:r>
              <a:rPr lang="en-US" sz="2000" dirty="0" err="1">
                <a:ea typeface="Calibri" panose="020F0502020204030204" pitchFamily="34" charset="0"/>
                <a:cs typeface="Times New Roman" panose="02020603050405020304" pitchFamily="18" charset="0"/>
              </a:rPr>
              <a:t>OpenAPI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 generation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Interactive Swagger UI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 err="1">
                <a:ea typeface="Calibri" panose="020F0502020204030204" pitchFamily="34" charset="0"/>
                <a:cs typeface="Times New Roman" panose="02020603050405020304" pitchFamily="18" charset="0"/>
              </a:rPr>
              <a:t>Pydantic</a:t>
            </a: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 model integration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Dependency injection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Cleaner, less repetitive code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Strong editor support through type </a:t>
            </a:r>
            <a:r>
              <a:rPr lang="en-US" sz="2000" dirty="0" smtClean="0">
                <a:ea typeface="Calibri" panose="020F0502020204030204" pitchFamily="34" charset="0"/>
                <a:cs typeface="Times New Roman" panose="02020603050405020304" pitchFamily="18" charset="0"/>
              </a:rPr>
              <a:t>hints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20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  <a:r>
              <a:rPr lang="en-US" sz="2000" dirty="0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2000" dirty="0" err="1">
                <a:solidFill>
                  <a:srgbClr val="FF00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Starlette</a:t>
            </a:r>
            <a:endParaRPr lang="en-US" sz="2000" dirty="0">
              <a:solidFill>
                <a:srgbClr val="FF0000"/>
              </a:solidFill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Minimal and lightweight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Greater control over the request lifecycle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Excellent foundation for custom frameworks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ea typeface="Calibri" panose="020F0502020204030204" pitchFamily="34" charset="0"/>
                <a:cs typeface="Times New Roman" panose="02020603050405020304" pitchFamily="18" charset="0"/>
              </a:rPr>
              <a:t>Lower overhead in simple applications </a:t>
            </a:r>
            <a:endParaRPr lang="en-US" sz="20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472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err="1" smtClean="0">
                <a:solidFill>
                  <a:srgbClr val="FFFF00"/>
                </a:solidFill>
              </a:rPr>
              <a:t>FastAPI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</a:rPr>
              <a:t>vs</a:t>
            </a:r>
            <a:r>
              <a:rPr lang="en-US" b="1" dirty="0" smtClean="0">
                <a:solidFill>
                  <a:srgbClr val="FFFF00"/>
                </a:solidFill>
              </a:rPr>
              <a:t> </a:t>
            </a:r>
            <a:r>
              <a:rPr lang="en-US" b="1" dirty="0" err="1" smtClean="0">
                <a:solidFill>
                  <a:srgbClr val="FFFF00"/>
                </a:solidFill>
              </a:rPr>
              <a:t>Starlette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190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7200"/>
            <a:ext cx="9144000" cy="1905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77368" y="609600"/>
            <a:ext cx="883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sz="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07848" y="1219200"/>
            <a:ext cx="8305800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 smtClean="0">
                <a:solidFill>
                  <a:srgbClr val="FF0000"/>
                </a:solidFill>
              </a:rPr>
              <a:t>Recommendation</a:t>
            </a:r>
            <a:endParaRPr lang="en-US" b="1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dirty="0"/>
              <a:t>For most application development—especially CRUD APIs, </a:t>
            </a:r>
            <a:r>
              <a:rPr lang="en-US" dirty="0" err="1"/>
              <a:t>microservices</a:t>
            </a:r>
            <a:r>
              <a:rPr lang="en-US" dirty="0"/>
              <a:t>, and production REST services—</a:t>
            </a:r>
            <a:r>
              <a:rPr lang="en-US" b="1" dirty="0" err="1"/>
              <a:t>FastAPI</a:t>
            </a:r>
            <a:r>
              <a:rPr lang="en-US" dirty="0"/>
              <a:t> is the better choice because it builds on </a:t>
            </a:r>
            <a:r>
              <a:rPr lang="en-US" dirty="0" err="1"/>
              <a:t>Starlette</a:t>
            </a:r>
            <a:r>
              <a:rPr lang="en-US" dirty="0"/>
              <a:t> while providing automatic validation, documentation, and many productivity features.</a:t>
            </a:r>
          </a:p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990600" y="3657600"/>
            <a:ext cx="1066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219200" y="4495800"/>
            <a:ext cx="152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Client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638184" y="3303895"/>
            <a:ext cx="10668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882744" y="4975324"/>
            <a:ext cx="78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Server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638184" y="3486620"/>
            <a:ext cx="1066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Booktkt</a:t>
            </a:r>
            <a:r>
              <a:rPr lang="en-US" dirty="0" smtClean="0"/>
              <a:t>()</a:t>
            </a:r>
          </a:p>
          <a:p>
            <a:r>
              <a:rPr lang="en-US" dirty="0" smtClean="0"/>
              <a:t>.,…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4774332" y="3813959"/>
            <a:ext cx="1295400" cy="369332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FF00"/>
                </a:solidFill>
              </a:rPr>
              <a:t>middleware</a:t>
            </a:r>
            <a:endParaRPr lang="en-US" dirty="0">
              <a:solidFill>
                <a:srgbClr val="FFFF00"/>
              </a:solidFill>
            </a:endParaRPr>
          </a:p>
        </p:txBody>
      </p:sp>
      <p:cxnSp>
        <p:nvCxnSpPr>
          <p:cNvPr id="14" name="Straight Arrow Connector 13"/>
          <p:cNvCxnSpPr>
            <a:endCxn id="12" idx="1"/>
          </p:cNvCxnSpPr>
          <p:nvPr/>
        </p:nvCxnSpPr>
        <p:spPr>
          <a:xfrm>
            <a:off x="2133600" y="3998625"/>
            <a:ext cx="26407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638184" y="4343399"/>
            <a:ext cx="13628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hotelbook</a:t>
            </a:r>
            <a:r>
              <a:rPr lang="en-US" dirty="0" smtClean="0"/>
              <a:t>()</a:t>
            </a:r>
          </a:p>
          <a:p>
            <a:r>
              <a:rPr lang="en-US" dirty="0" smtClean="0"/>
              <a:t>.,…</a:t>
            </a:r>
            <a:endParaRPr lang="en-US" dirty="0"/>
          </a:p>
        </p:txBody>
      </p:sp>
      <p:sp>
        <p:nvSpPr>
          <p:cNvPr id="16" name="Right Arrow 15"/>
          <p:cNvSpPr/>
          <p:nvPr/>
        </p:nvSpPr>
        <p:spPr>
          <a:xfrm>
            <a:off x="6069732" y="3894954"/>
            <a:ext cx="568452" cy="17055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90600" y="4840574"/>
            <a:ext cx="1066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2357808" y="4076700"/>
            <a:ext cx="2339160" cy="1083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928976" y="4213946"/>
            <a:ext cx="18756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Auth</a:t>
            </a:r>
            <a:endParaRPr lang="en-US" dirty="0" smtClean="0"/>
          </a:p>
          <a:p>
            <a:r>
              <a:rPr lang="en-US" dirty="0" smtClean="0"/>
              <a:t>Logger</a:t>
            </a:r>
          </a:p>
          <a:p>
            <a:r>
              <a:rPr lang="en-US" dirty="0" smtClean="0"/>
              <a:t>Caching</a:t>
            </a:r>
          </a:p>
          <a:p>
            <a:r>
              <a:rPr lang="en-US" dirty="0" smtClean="0"/>
              <a:t>Routing</a:t>
            </a:r>
          </a:p>
          <a:p>
            <a:r>
              <a:rPr lang="en-US" dirty="0" smtClean="0"/>
              <a:t>Versioning 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929960" y="3443267"/>
            <a:ext cx="1475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Gateway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281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 – Key Features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52400" y="838200"/>
            <a:ext cx="9144000" cy="5576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 smtClean="0"/>
              <a:t>Enable </a:t>
            </a:r>
            <a:r>
              <a:rPr lang="en-US" sz="2000" dirty="0"/>
              <a:t>different systems, platforms, and applications to communicate and share data effortlessly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Significantly reduce the time and effort required to develop applications by leveraging pre-built functionalities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Enable systems to scale and adapt to growing or changing requirements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APIs contribute to creating dynamic and responsive applications that offer better user experiences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Allow organizations to expand their ecosystem and collaborate with external developers and partners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APIs provide controlled and secure access to data, allowing organizations to share information with clients, partners, or the public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APIs provide mechanisms to enforce security policies and ensure compliance with industry standards</a:t>
            </a: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APIs can help organizations reduce operat</a:t>
            </a:r>
            <a:r>
              <a:rPr lang="en-US" sz="2200" dirty="0"/>
              <a:t>ional and development costs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194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Types of 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762000"/>
            <a:ext cx="9144000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u="sng" dirty="0">
                <a:solidFill>
                  <a:srgbClr val="FF0000"/>
                </a:solidFill>
              </a:rPr>
              <a:t>Web API: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APIs that are accessible over the web using HTTP/HTTPS protocols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Allow applications to communicate over the internet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is usually shared in JSON/XML formats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Fetching weather data from </a:t>
            </a:r>
            <a:r>
              <a:rPr lang="en-US" i="1" dirty="0" err="1"/>
              <a:t>OpenWeather</a:t>
            </a:r>
            <a:r>
              <a:rPr lang="en-US" i="1" dirty="0"/>
              <a:t> API</a:t>
            </a:r>
            <a:endParaRPr lang="en-US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i="1" dirty="0"/>
              <a:t>Embedding Google Maps on a </a:t>
            </a:r>
            <a:r>
              <a:rPr lang="en-US" i="1" dirty="0" smtClean="0"/>
              <a:t>website</a:t>
            </a:r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0"/>
            <a:r>
              <a:rPr lang="en-US" b="1" u="sng" dirty="0">
                <a:solidFill>
                  <a:srgbClr val="FF0000"/>
                </a:solidFill>
              </a:rPr>
              <a:t>Library API: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APIs provided by libraries or frameworks to expose specific functionality for developers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Allow developers to utilize predefined functions or methods without implementing them from </a:t>
            </a:r>
            <a:r>
              <a:rPr lang="en-US" dirty="0" smtClean="0"/>
              <a:t>scratch.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i="1" dirty="0" err="1"/>
              <a:t>NumPy</a:t>
            </a:r>
            <a:r>
              <a:rPr lang="en-US" b="1" i="1" dirty="0"/>
              <a:t> API: </a:t>
            </a:r>
            <a:r>
              <a:rPr lang="en-US" i="1" dirty="0"/>
              <a:t>Provides functions for numerical computations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i="1" dirty="0" err="1"/>
              <a:t>TensorFlow</a:t>
            </a:r>
            <a:r>
              <a:rPr lang="en-US" b="1" i="1" dirty="0"/>
              <a:t> API: </a:t>
            </a:r>
            <a:r>
              <a:rPr lang="en-US" i="1" dirty="0"/>
              <a:t>Offers tools for building and training ML/DL models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b="1" i="1" dirty="0" err="1"/>
              <a:t>Matplotlib</a:t>
            </a:r>
            <a:r>
              <a:rPr lang="en-US" b="1" i="1" dirty="0"/>
              <a:t> API: </a:t>
            </a:r>
            <a:r>
              <a:rPr lang="en-US" i="1" dirty="0"/>
              <a:t>Allows creating visualizations programmatically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785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Types of 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85800"/>
            <a:ext cx="9144000" cy="6263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u="sng" dirty="0">
                <a:solidFill>
                  <a:srgbClr val="FF0000"/>
                </a:solidFill>
              </a:rPr>
              <a:t>Remote API: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APIs designed to interact with systems located on a different network or server,  often through the internet or intranet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Web API is a subset of Remote API, i.e., all Web APIs are Remote APIs, but not all Remote APIs are Web APIs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Makes use of Intranet APIs, which can only be accessible within a private network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i="1" dirty="0"/>
              <a:t>Deploying virtual machines using AWS EC2 API</a:t>
            </a:r>
            <a:endParaRPr lang="en-US" dirty="0"/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i="1" dirty="0"/>
              <a:t>Retrieving remote files stored in Google Drive through its API</a:t>
            </a:r>
            <a:endParaRPr lang="en-US" dirty="0"/>
          </a:p>
          <a:p>
            <a:endParaRPr lang="en-US" sz="1400" dirty="0"/>
          </a:p>
          <a:p>
            <a:pPr lvl="0"/>
            <a:r>
              <a:rPr lang="en-US" b="1" u="sng" dirty="0">
                <a:solidFill>
                  <a:srgbClr val="FF0000"/>
                </a:solidFill>
              </a:rPr>
              <a:t>Database API:</a:t>
            </a:r>
            <a:endParaRPr lang="en-US" dirty="0">
              <a:solidFill>
                <a:srgbClr val="FF0000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APIs that allow applications to interact with databases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a structured way to perform CRUD (Create, Read, Update, Delete) operations on a database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Examples: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/>
              <a:t>MySQL Connector API: </a:t>
            </a:r>
            <a:r>
              <a:rPr lang="en-US" i="1" dirty="0"/>
              <a:t>Enables interaction with MySQL databases</a:t>
            </a:r>
            <a:endParaRPr lang="en-US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i="1" dirty="0" err="1"/>
              <a:t>MongoDB</a:t>
            </a:r>
            <a:r>
              <a:rPr lang="en-US" b="1" i="1" dirty="0"/>
              <a:t> API</a:t>
            </a:r>
            <a:r>
              <a:rPr lang="en-US" i="1" dirty="0"/>
              <a:t>: Allows CRUD operations on </a:t>
            </a:r>
            <a:r>
              <a:rPr lang="en-US" i="1" dirty="0" err="1"/>
              <a:t>NoSQL</a:t>
            </a:r>
            <a:r>
              <a:rPr lang="en-US" i="1" dirty="0"/>
              <a:t> data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i="1" dirty="0"/>
              <a:t> 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93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 Protocols</a:t>
            </a:r>
            <a:endParaRPr lang="en-US" b="1" dirty="0">
              <a:solidFill>
                <a:srgbClr val="FFFF00"/>
              </a:solidFill>
            </a:endParaRPr>
          </a:p>
        </p:txBody>
      </p:sp>
      <p:pic>
        <p:nvPicPr>
          <p:cNvPr id="2054" name="Image 29"/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4482963"/>
            <a:ext cx="3048000" cy="10521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3" name="Image 30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5559856"/>
            <a:ext cx="4845199" cy="1298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828800" y="3826803"/>
            <a:ext cx="853036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647700" algn="l"/>
              </a:tabLst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API Protocols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1F5F"/>
              </a:buClr>
              <a:buSzTx/>
              <a:buFontTx/>
              <a:buAutoNum type="arabicPeriod"/>
              <a:tabLst>
                <a:tab pos="647700" algn="l"/>
              </a:tabLst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Common HTTP methods: GET, POST, PUT, DELETE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47700" algn="l"/>
              </a:tabLst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 </a:t>
            </a: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47700" algn="l"/>
              </a:tabLst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83259" y="2759694"/>
            <a:ext cx="868275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47700" algn="l"/>
              </a:tabLs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/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F2F9F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Use Cases: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Web applications, mobile applications, and public APIs (e.g., Twitter API, </a:t>
            </a:r>
            <a:r>
              <a:rPr kumimoji="0" 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GitHub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 API)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8499" y="582544"/>
            <a:ext cx="89154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  <a:tabLst>
                <a:tab pos="647700" algn="l"/>
              </a:tabLst>
            </a:pPr>
            <a:r>
              <a:rPr lang="en-US" sz="2000" b="1" u="sng" dirty="0">
                <a:solidFill>
                  <a:srgbClr val="001F5F"/>
                </a:solidFill>
                <a:ea typeface="Calibri" panose="020F0502020204030204" pitchFamily="34" charset="0"/>
              </a:rPr>
              <a:t>REST:</a:t>
            </a:r>
            <a:endParaRPr lang="en-US" sz="2000" dirty="0"/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1F5F"/>
              </a:buClr>
              <a:buFontTx/>
              <a:buAutoNum type="arabicPeriod"/>
              <a:tabLst>
                <a:tab pos="647700" algn="l"/>
              </a:tabLst>
            </a:pPr>
            <a:r>
              <a:rPr lang="en-US" sz="2000" dirty="0">
                <a:ea typeface="Calibri" panose="020F0502020204030204" pitchFamily="34" charset="0"/>
              </a:rPr>
              <a:t>Abbreviation for </a:t>
            </a:r>
            <a:r>
              <a:rPr lang="en-US" sz="2000" dirty="0">
                <a:solidFill>
                  <a:srgbClr val="6F2F9F"/>
                </a:solidFill>
                <a:ea typeface="Calibri" panose="020F0502020204030204" pitchFamily="34" charset="0"/>
              </a:rPr>
              <a:t>Representational State Transfer</a:t>
            </a:r>
            <a:endParaRPr lang="en-US" sz="2000" dirty="0"/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1F5F"/>
              </a:buClr>
              <a:buFontTx/>
              <a:buAutoNum type="arabicPeriod"/>
              <a:tabLst>
                <a:tab pos="647700" algn="l"/>
              </a:tabLst>
            </a:pPr>
            <a:r>
              <a:rPr lang="en-US" sz="2000" dirty="0">
                <a:ea typeface="Calibri" panose="020F0502020204030204" pitchFamily="34" charset="0"/>
              </a:rPr>
              <a:t>It’s a lightweight architectural style that uses HTTP for communication</a:t>
            </a:r>
            <a:endParaRPr lang="en-US" sz="2000" dirty="0"/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1F5F"/>
              </a:buClr>
              <a:buFontTx/>
              <a:buAutoNum type="arabicPeriod"/>
              <a:tabLst>
                <a:tab pos="647700" algn="l"/>
              </a:tabLst>
            </a:pPr>
            <a:r>
              <a:rPr lang="en-US" sz="2000" dirty="0">
                <a:ea typeface="Calibri" panose="020F0502020204030204" pitchFamily="34" charset="0"/>
              </a:rPr>
              <a:t>Follow a set of principles, such as statelessness and resource representation using URLs</a:t>
            </a:r>
            <a:endParaRPr lang="en-US" sz="2000" dirty="0"/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1F5F"/>
              </a:buClr>
              <a:buFontTx/>
              <a:buAutoNum type="arabicPeriod"/>
              <a:tabLst>
                <a:tab pos="647700" algn="l"/>
              </a:tabLst>
            </a:pPr>
            <a:r>
              <a:rPr lang="en-US" sz="2000" dirty="0">
                <a:ea typeface="Calibri" panose="020F0502020204030204" pitchFamily="34" charset="0"/>
              </a:rPr>
              <a:t>Each API call is independent of the other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7811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 Protocols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1161485" y="979383"/>
            <a:ext cx="6422143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477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647700" algn="l"/>
              </a:tabLst>
            </a:pPr>
            <a:r>
              <a:rPr kumimoji="0" lang="en-US" b="1" i="0" u="sng" strike="noStrike" cap="none" normalizeH="0" baseline="0" dirty="0" smtClean="0">
                <a:ln>
                  <a:noFill/>
                </a:ln>
                <a:solidFill>
                  <a:srgbClr val="001F5F"/>
                </a:solidFill>
                <a:effectLst/>
                <a:latin typeface="+mn-lt"/>
                <a:ea typeface="Calibri" panose="020F0502020204030204" pitchFamily="34" charset="0"/>
              </a:rPr>
              <a:t>SOAP: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1F5F"/>
              </a:buClr>
              <a:buSzTx/>
              <a:buFontTx/>
              <a:buAutoNum type="arabicPeriod"/>
              <a:tabLst>
                <a:tab pos="647700" algn="l"/>
              </a:tabLs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Abbreviation for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F2F9F"/>
                </a:solidFill>
                <a:effectLst/>
                <a:latin typeface="+mn-lt"/>
                <a:ea typeface="Calibri" panose="020F0502020204030204" pitchFamily="34" charset="0"/>
              </a:rPr>
              <a:t>Simple Object Access Protocol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1F5F"/>
              </a:buClr>
              <a:buSzTx/>
              <a:buFontTx/>
              <a:buAutoNum type="arabicPeriod"/>
              <a:tabLst>
                <a:tab pos="647700" algn="l"/>
              </a:tabLs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A protocol that relies on XML messaging for communication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1F5F"/>
              </a:buClr>
              <a:buSzTx/>
              <a:buFontTx/>
              <a:buAutoNum type="arabicPeriod"/>
              <a:tabLst>
                <a:tab pos="647700" algn="l"/>
              </a:tabLs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Designed for more structured and secure interactions</a:t>
            </a:r>
          </a:p>
          <a:p>
            <a:pPr marL="457200" marR="0" lvl="1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001F5F"/>
              </a:buClr>
              <a:buSzTx/>
              <a:buFontTx/>
              <a:buAutoNum type="arabicPeriod"/>
              <a:tabLst>
                <a:tab pos="647700" algn="l"/>
              </a:tabLst>
            </a:pPr>
            <a:endParaRPr lang="en-US" dirty="0">
              <a:latin typeface="+mn-lt"/>
            </a:endParaRPr>
          </a:p>
        </p:txBody>
      </p:sp>
      <p:pic>
        <p:nvPicPr>
          <p:cNvPr id="3073" name="Image 34"/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4343400"/>
            <a:ext cx="6781800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1676400" y="3200400"/>
            <a:ext cx="5904180" cy="90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  <a:cs typeface="Calibri" panose="020F0502020204030204" pitchFamily="34" charset="0"/>
              </a:rPr>
              <a:t>Has built-in error handling and security (e.g., WS-Security)</a:t>
            </a:r>
            <a:r>
              <a:rPr kumimoji="0" lang="en-US" sz="9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6776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Working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-12192" y="587635"/>
            <a:ext cx="9067800" cy="62863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880" marR="274320" indent="0" algn="just">
              <a:spcBef>
                <a:spcPts val="65"/>
              </a:spcBef>
              <a:spcAft>
                <a:spcPts val="0"/>
              </a:spcAft>
              <a:tabLst>
                <a:tab pos="448945" algn="l"/>
              </a:tabLst>
            </a:pPr>
            <a:r>
              <a:rPr lang="en-US" b="1" u="heavy" spc="-5" dirty="0" smtClean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Request</a:t>
            </a:r>
            <a:r>
              <a:rPr lang="en-US" b="1" u="heavy" spc="35" dirty="0" smtClean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 </a:t>
            </a:r>
            <a:r>
              <a:rPr lang="en-US" b="1" u="heavy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Initiation:</a:t>
            </a:r>
            <a:endParaRPr lang="en-US" spc="-5" dirty="0">
              <a:ea typeface="Calibri" panose="020F0502020204030204" pitchFamily="34" charset="0"/>
            </a:endParaRPr>
          </a:p>
          <a:p>
            <a:pPr marL="742950" marR="274320" lvl="1" indent="-285750" algn="just">
              <a:spcBef>
                <a:spcPts val="0"/>
              </a:spcBef>
              <a:spcAft>
                <a:spcPts val="0"/>
              </a:spcAft>
              <a:buSzPts val="1100"/>
              <a:buFont typeface="Courier New" panose="02070309020205020404" pitchFamily="49" charset="0"/>
              <a:buChar char="○"/>
              <a:tabLst>
                <a:tab pos="753745" algn="l"/>
              </a:tabLst>
            </a:pP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process</a:t>
            </a:r>
            <a:r>
              <a:rPr lang="en-US" spc="3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begins</a:t>
            </a:r>
            <a:r>
              <a:rPr lang="en-US" spc="3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when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client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(like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web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browser,</a:t>
            </a:r>
            <a:r>
              <a:rPr lang="en-US" spc="3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mobile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app,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etc.)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initiates</a:t>
            </a:r>
            <a:r>
              <a:rPr lang="en-US" spc="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request</a:t>
            </a:r>
            <a:r>
              <a:rPr lang="en-US" spc="3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to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spc="-25" dirty="0">
                <a:ea typeface="Courier New" panose="02070309020205020404" pitchFamily="49" charset="0"/>
              </a:rPr>
              <a:t>API</a:t>
            </a:r>
            <a:endParaRPr lang="en-US" dirty="0">
              <a:ea typeface="Courier New" panose="02070309020205020404" pitchFamily="49" charset="0"/>
            </a:endParaRPr>
          </a:p>
          <a:p>
            <a:pPr marL="742950" marR="274320" lvl="1" indent="-285750" algn="just">
              <a:spcBef>
                <a:spcPts val="0"/>
              </a:spcBef>
              <a:spcAft>
                <a:spcPts val="0"/>
              </a:spcAft>
              <a:buSzPts val="1100"/>
              <a:buFont typeface="Courier New" panose="02070309020205020404" pitchFamily="49" charset="0"/>
              <a:buChar char="○"/>
              <a:tabLst>
                <a:tab pos="753745" algn="l"/>
              </a:tabLst>
            </a:pPr>
            <a:r>
              <a:rPr lang="en-US" dirty="0">
                <a:ea typeface="Courier New" panose="02070309020205020404" pitchFamily="49" charset="0"/>
              </a:rPr>
              <a:t>This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request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is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usually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made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using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HTTP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methods</a:t>
            </a:r>
            <a:r>
              <a:rPr lang="en-US" spc="3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such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as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GET,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POST,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PUT,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or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spc="-10" dirty="0">
                <a:ea typeface="Courier New" panose="02070309020205020404" pitchFamily="49" charset="0"/>
              </a:rPr>
              <a:t>DELETE</a:t>
            </a:r>
            <a:endParaRPr lang="en-US" dirty="0">
              <a:ea typeface="Courier New" panose="02070309020205020404" pitchFamily="49" charset="0"/>
            </a:endParaRPr>
          </a:p>
          <a:p>
            <a:pPr marR="274320" algn="just">
              <a:spcBef>
                <a:spcPts val="40"/>
              </a:spcBef>
            </a:pPr>
            <a:r>
              <a:rPr lang="en-US" dirty="0">
                <a:ea typeface="Calibri" panose="020F0502020204030204" pitchFamily="34" charset="0"/>
              </a:rPr>
              <a:t> </a:t>
            </a:r>
          </a:p>
          <a:p>
            <a:pPr marR="274320" lvl="0" algn="just">
              <a:spcBef>
                <a:spcPts val="5"/>
              </a:spcBef>
              <a:spcAft>
                <a:spcPts val="0"/>
              </a:spcAft>
              <a:buClr>
                <a:srgbClr val="001F5F"/>
              </a:buClr>
              <a:buSzPts val="1100"/>
              <a:tabLst>
                <a:tab pos="514985" algn="l"/>
              </a:tabLst>
            </a:pPr>
            <a:r>
              <a:rPr lang="en-US" b="1" u="heavy" spc="-5" dirty="0" smtClean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API</a:t>
            </a:r>
            <a:r>
              <a:rPr lang="en-US" b="1" u="heavy" spc="10" dirty="0" smtClean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 </a:t>
            </a:r>
            <a:r>
              <a:rPr lang="en-US" b="1" u="heavy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Endpoint:</a:t>
            </a:r>
            <a:endParaRPr lang="en-US" spc="-5" dirty="0">
              <a:ea typeface="Calibri" panose="020F0502020204030204" pitchFamily="34" charset="0"/>
            </a:endParaRPr>
          </a:p>
          <a:p>
            <a:pPr marL="742950" marR="274320" lvl="1" indent="-285750" algn="just">
              <a:spcBef>
                <a:spcPts val="0"/>
              </a:spcBef>
              <a:spcAft>
                <a:spcPts val="0"/>
              </a:spcAft>
              <a:buSzPts val="1100"/>
              <a:buFont typeface="Courier New" panose="02070309020205020404" pitchFamily="49" charset="0"/>
              <a:buChar char="○"/>
              <a:tabLst>
                <a:tab pos="753745" algn="l"/>
              </a:tabLst>
            </a:pP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request</a:t>
            </a:r>
            <a:r>
              <a:rPr lang="en-US" spc="3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is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sent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to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specific</a:t>
            </a:r>
            <a:r>
              <a:rPr lang="en-US" spc="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URL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known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as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an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API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spc="-10" dirty="0">
                <a:ea typeface="Courier New" panose="02070309020205020404" pitchFamily="49" charset="0"/>
              </a:rPr>
              <a:t>endpoint</a:t>
            </a:r>
            <a:endParaRPr lang="en-US" dirty="0">
              <a:ea typeface="Courier New" panose="02070309020205020404" pitchFamily="49" charset="0"/>
            </a:endParaRPr>
          </a:p>
          <a:p>
            <a:pPr marL="742950" marR="274320" lvl="1" indent="-285750" algn="just">
              <a:spcBef>
                <a:spcPts val="0"/>
              </a:spcBef>
              <a:spcAft>
                <a:spcPts val="0"/>
              </a:spcAft>
              <a:buSzPts val="1100"/>
              <a:buFont typeface="Courier New" panose="02070309020205020404" pitchFamily="49" charset="0"/>
              <a:buChar char="○"/>
              <a:tabLst>
                <a:tab pos="753745" algn="l"/>
              </a:tabLst>
            </a:pPr>
            <a:r>
              <a:rPr lang="en-US" dirty="0">
                <a:ea typeface="Courier New" panose="02070309020205020404" pitchFamily="49" charset="0"/>
              </a:rPr>
              <a:t>This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endpoint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is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like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door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that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API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has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opened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for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spc="-10" dirty="0" smtClean="0">
                <a:ea typeface="Courier New" panose="02070309020205020404" pitchFamily="49" charset="0"/>
              </a:rPr>
              <a:t>requests</a:t>
            </a:r>
            <a:r>
              <a:rPr lang="en-US" dirty="0">
                <a:ea typeface="Calibri" panose="020F0502020204030204" pitchFamily="34" charset="0"/>
              </a:rPr>
              <a:t>  </a:t>
            </a:r>
          </a:p>
          <a:p>
            <a:pPr marR="274320" lvl="0" algn="just"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100"/>
              <a:tabLst>
                <a:tab pos="514985" algn="l"/>
              </a:tabLst>
            </a:pPr>
            <a:r>
              <a:rPr lang="en-US" b="1" u="heavy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Request</a:t>
            </a:r>
            <a:r>
              <a:rPr lang="en-US" b="1" u="heavy" spc="3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 </a:t>
            </a:r>
            <a:r>
              <a:rPr lang="en-US" b="1" u="heavy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Processing:</a:t>
            </a:r>
            <a:endParaRPr lang="en-US" spc="-5" dirty="0">
              <a:ea typeface="Calibri" panose="020F0502020204030204" pitchFamily="34" charset="0"/>
            </a:endParaRPr>
          </a:p>
          <a:p>
            <a:pPr marL="742950" marR="274320" lvl="1" indent="-285750" algn="just">
              <a:spcBef>
                <a:spcPts val="705"/>
              </a:spcBef>
              <a:spcAft>
                <a:spcPts val="0"/>
              </a:spcAft>
              <a:buSzPts val="1100"/>
              <a:buFont typeface="Courier New" panose="02070309020205020404" pitchFamily="49" charset="0"/>
              <a:buChar char="○"/>
              <a:tabLst>
                <a:tab pos="753745" algn="l"/>
              </a:tabLst>
            </a:pP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server</a:t>
            </a:r>
            <a:r>
              <a:rPr lang="en-US" spc="3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receives</a:t>
            </a:r>
            <a:r>
              <a:rPr lang="en-US" spc="3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request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and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processes</a:t>
            </a:r>
            <a:r>
              <a:rPr lang="en-US" spc="40" dirty="0">
                <a:ea typeface="Courier New" panose="02070309020205020404" pitchFamily="49" charset="0"/>
              </a:rPr>
              <a:t> </a:t>
            </a:r>
            <a:r>
              <a:rPr lang="en-US" spc="-25" dirty="0">
                <a:ea typeface="Courier New" panose="02070309020205020404" pitchFamily="49" charset="0"/>
              </a:rPr>
              <a:t>it</a:t>
            </a:r>
            <a:endParaRPr lang="en-US" dirty="0">
              <a:ea typeface="Courier New" panose="02070309020205020404" pitchFamily="49" charset="0"/>
            </a:endParaRPr>
          </a:p>
          <a:p>
            <a:pPr marL="742950" marR="274320" lvl="1" indent="-285750" algn="just">
              <a:spcBef>
                <a:spcPts val="955"/>
              </a:spcBef>
              <a:spcAft>
                <a:spcPts val="0"/>
              </a:spcAft>
              <a:buSzPts val="1100"/>
              <a:buFont typeface="Courier New" panose="02070309020205020404" pitchFamily="49" charset="0"/>
              <a:buChar char="○"/>
              <a:tabLst>
                <a:tab pos="753745" algn="l"/>
              </a:tabLst>
            </a:pPr>
            <a:r>
              <a:rPr lang="en-US" dirty="0">
                <a:ea typeface="Courier New" panose="02070309020205020404" pitchFamily="49" charset="0"/>
              </a:rPr>
              <a:t>This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involves</a:t>
            </a:r>
            <a:r>
              <a:rPr lang="en-US" spc="3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verifying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request</a:t>
            </a:r>
            <a:r>
              <a:rPr lang="en-US" spc="4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parameters,</a:t>
            </a:r>
            <a:r>
              <a:rPr lang="en-US" spc="4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checking</a:t>
            </a:r>
            <a:r>
              <a:rPr lang="en-US" spc="5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authentication,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and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accessing</a:t>
            </a:r>
            <a:r>
              <a:rPr lang="en-US" spc="3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databases,</a:t>
            </a:r>
            <a:r>
              <a:rPr lang="en-US" spc="35" dirty="0">
                <a:ea typeface="Courier New" panose="02070309020205020404" pitchFamily="49" charset="0"/>
              </a:rPr>
              <a:t> </a:t>
            </a:r>
            <a:r>
              <a:rPr lang="en-US" spc="-20" dirty="0">
                <a:ea typeface="Courier New" panose="02070309020205020404" pitchFamily="49" charset="0"/>
              </a:rPr>
              <a:t>etc</a:t>
            </a:r>
            <a:r>
              <a:rPr lang="en-US" spc="-20" dirty="0" smtClean="0">
                <a:ea typeface="Courier New" panose="02070309020205020404" pitchFamily="49" charset="0"/>
              </a:rPr>
              <a:t>.</a:t>
            </a:r>
            <a:r>
              <a:rPr lang="en-US" dirty="0">
                <a:ea typeface="Calibri" panose="020F0502020204030204" pitchFamily="34" charset="0"/>
              </a:rPr>
              <a:t> </a:t>
            </a:r>
          </a:p>
          <a:p>
            <a:pPr marR="274320" lvl="0" algn="just"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100"/>
              <a:tabLst>
                <a:tab pos="514985" algn="l"/>
              </a:tabLst>
            </a:pPr>
            <a:r>
              <a:rPr lang="en-US" b="1" u="heavy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Response</a:t>
            </a:r>
            <a:r>
              <a:rPr lang="en-US" b="1" u="heavy" spc="3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 </a:t>
            </a:r>
            <a:r>
              <a:rPr lang="en-US" b="1" u="heavy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Generation:</a:t>
            </a:r>
            <a:endParaRPr lang="en-US" spc="-5" dirty="0">
              <a:ea typeface="Calibri" panose="020F0502020204030204" pitchFamily="34" charset="0"/>
            </a:endParaRPr>
          </a:p>
          <a:p>
            <a:pPr marL="742950" marR="274320" lvl="1" indent="-285750" algn="just">
              <a:spcBef>
                <a:spcPts val="705"/>
              </a:spcBef>
              <a:spcAft>
                <a:spcPts val="0"/>
              </a:spcAft>
              <a:buSzPts val="1100"/>
              <a:buFont typeface="Courier New" panose="02070309020205020404" pitchFamily="49" charset="0"/>
              <a:buChar char="○"/>
              <a:tabLst>
                <a:tab pos="753745" algn="l"/>
              </a:tabLst>
            </a:pPr>
            <a:r>
              <a:rPr lang="en-US" dirty="0">
                <a:ea typeface="Courier New" panose="02070309020205020404" pitchFamily="49" charset="0"/>
              </a:rPr>
              <a:t>After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processing</a:t>
            </a:r>
            <a:r>
              <a:rPr lang="en-US" spc="4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request,</a:t>
            </a:r>
            <a:r>
              <a:rPr lang="en-US" spc="3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server</a:t>
            </a:r>
            <a:r>
              <a:rPr lang="en-US" spc="3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generates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spc="-10" dirty="0">
                <a:ea typeface="Courier New" panose="02070309020205020404" pitchFamily="49" charset="0"/>
              </a:rPr>
              <a:t>response</a:t>
            </a:r>
            <a:endParaRPr lang="en-US" dirty="0">
              <a:ea typeface="Courier New" panose="02070309020205020404" pitchFamily="49" charset="0"/>
            </a:endParaRPr>
          </a:p>
          <a:p>
            <a:pPr marL="742950" marR="274320" lvl="1" indent="-285750" algn="just">
              <a:spcBef>
                <a:spcPts val="955"/>
              </a:spcBef>
              <a:spcAft>
                <a:spcPts val="0"/>
              </a:spcAft>
              <a:buSzPts val="1100"/>
              <a:buFont typeface="Courier New" panose="02070309020205020404" pitchFamily="49" charset="0"/>
              <a:buChar char="○"/>
              <a:tabLst>
                <a:tab pos="753745" algn="l"/>
              </a:tabLst>
            </a:pPr>
            <a:r>
              <a:rPr lang="en-US" dirty="0">
                <a:ea typeface="Courier New" panose="02070309020205020404" pitchFamily="49" charset="0"/>
              </a:rPr>
              <a:t>This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response</a:t>
            </a:r>
            <a:r>
              <a:rPr lang="en-US" spc="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typically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includes the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requested</a:t>
            </a:r>
            <a:r>
              <a:rPr lang="en-US" spc="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data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or a confirmation of the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action </a:t>
            </a:r>
            <a:r>
              <a:rPr lang="en-US" spc="-10" dirty="0" smtClean="0">
                <a:ea typeface="Courier New" panose="02070309020205020404" pitchFamily="49" charset="0"/>
              </a:rPr>
              <a:t>performed</a:t>
            </a:r>
            <a:r>
              <a:rPr lang="en-US" dirty="0">
                <a:ea typeface="Calibri" panose="020F0502020204030204" pitchFamily="34" charset="0"/>
              </a:rPr>
              <a:t> </a:t>
            </a:r>
          </a:p>
          <a:p>
            <a:pPr marR="274320" lvl="0" algn="just">
              <a:spcBef>
                <a:spcPts val="0"/>
              </a:spcBef>
              <a:spcAft>
                <a:spcPts val="0"/>
              </a:spcAft>
              <a:buClr>
                <a:srgbClr val="001F5F"/>
              </a:buClr>
              <a:buSzPts val="1100"/>
              <a:tabLst>
                <a:tab pos="514985" algn="l"/>
              </a:tabLst>
            </a:pPr>
            <a:r>
              <a:rPr lang="en-US" b="1" u="heavy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Response</a:t>
            </a:r>
            <a:r>
              <a:rPr lang="en-US" b="1" u="heavy" spc="3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 </a:t>
            </a:r>
            <a:r>
              <a:rPr lang="en-US" b="1" u="heavy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Delivery:</a:t>
            </a:r>
            <a:endParaRPr lang="en-US" spc="-5" dirty="0">
              <a:ea typeface="Calibri" panose="020F0502020204030204" pitchFamily="34" charset="0"/>
            </a:endParaRPr>
          </a:p>
          <a:p>
            <a:pPr marL="742950" marR="274320" lvl="1" indent="-285750" algn="just">
              <a:spcBef>
                <a:spcPts val="705"/>
              </a:spcBef>
              <a:spcAft>
                <a:spcPts val="0"/>
              </a:spcAft>
              <a:buSzPts val="1100"/>
              <a:buFont typeface="Courier New" panose="02070309020205020404" pitchFamily="49" charset="0"/>
              <a:buChar char="○"/>
              <a:tabLst>
                <a:tab pos="753745" algn="l"/>
              </a:tabLst>
            </a:pP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response</a:t>
            </a:r>
            <a:r>
              <a:rPr lang="en-US" spc="3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is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sent</a:t>
            </a:r>
            <a:r>
              <a:rPr lang="en-US" spc="2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back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to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15" dirty="0">
                <a:ea typeface="Courier New" panose="02070309020205020404" pitchFamily="49" charset="0"/>
              </a:rPr>
              <a:t> </a:t>
            </a:r>
            <a:r>
              <a:rPr lang="en-US" spc="-10" dirty="0">
                <a:ea typeface="Courier New" panose="02070309020205020404" pitchFamily="49" charset="0"/>
              </a:rPr>
              <a:t>client</a:t>
            </a:r>
            <a:endParaRPr lang="en-US" dirty="0">
              <a:ea typeface="Courier New" panose="02070309020205020404" pitchFamily="49" charset="0"/>
            </a:endParaRPr>
          </a:p>
          <a:p>
            <a:pPr marL="742950" marR="274320" lvl="1" indent="-285750" algn="just">
              <a:spcBef>
                <a:spcPts val="950"/>
              </a:spcBef>
              <a:spcAft>
                <a:spcPts val="0"/>
              </a:spcAft>
              <a:buSzPts val="1100"/>
              <a:buFont typeface="Courier New" panose="02070309020205020404" pitchFamily="49" charset="0"/>
              <a:buChar char="○"/>
              <a:tabLst>
                <a:tab pos="753745" algn="l"/>
              </a:tabLst>
            </a:pP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-1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client receives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response</a:t>
            </a:r>
            <a:r>
              <a:rPr lang="en-US" spc="2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and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uses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data</a:t>
            </a:r>
            <a:r>
              <a:rPr lang="en-US" spc="-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to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perform</a:t>
            </a:r>
            <a:r>
              <a:rPr lang="en-US" spc="1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the</a:t>
            </a:r>
            <a:r>
              <a:rPr lang="en-US" spc="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desired action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or display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information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to</a:t>
            </a:r>
            <a:r>
              <a:rPr lang="en-US" spc="-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the </a:t>
            </a:r>
            <a:r>
              <a:rPr lang="en-US" spc="-20" dirty="0">
                <a:ea typeface="Courier New" panose="02070309020205020404" pitchFamily="49" charset="0"/>
              </a:rPr>
              <a:t>user</a:t>
            </a:r>
            <a:endParaRPr lang="en-US" spc="0" dirty="0">
              <a:effectLst/>
              <a:ea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988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9" name="Graphic 77"/>
          <p:cNvSpPr>
            <a:spLocks/>
          </p:cNvSpPr>
          <p:nvPr/>
        </p:nvSpPr>
        <p:spPr>
          <a:xfrm>
            <a:off x="1575563" y="5042662"/>
            <a:ext cx="27305" cy="27305"/>
          </a:xfrm>
          <a:custGeom>
            <a:avLst/>
            <a:gdLst/>
            <a:ahLst/>
            <a:cxnLst/>
            <a:rect l="l" t="t" r="r" b="b"/>
            <a:pathLst>
              <a:path w="27305" h="27305">
                <a:moveTo>
                  <a:pt x="0" y="13411"/>
                </a:moveTo>
                <a:lnTo>
                  <a:pt x="3928" y="3928"/>
                </a:lnTo>
                <a:lnTo>
                  <a:pt x="13411" y="0"/>
                </a:lnTo>
                <a:lnTo>
                  <a:pt x="22894" y="3928"/>
                </a:lnTo>
                <a:lnTo>
                  <a:pt x="26822" y="13411"/>
                </a:lnTo>
                <a:lnTo>
                  <a:pt x="22894" y="22894"/>
                </a:lnTo>
                <a:lnTo>
                  <a:pt x="13411" y="26822"/>
                </a:lnTo>
                <a:lnTo>
                  <a:pt x="3928" y="22894"/>
                </a:lnTo>
                <a:lnTo>
                  <a:pt x="0" y="13411"/>
                </a:lnTo>
                <a:close/>
              </a:path>
            </a:pathLst>
          </a:custGeom>
          <a:solidFill>
            <a:srgbClr val="008B39"/>
          </a:solidFill>
        </p:spPr>
        <p:txBody>
          <a:bodyPr wrap="square" lIns="0" tIns="0" rIns="0" bIns="0" rtlCol="0">
            <a:prstTxWarp prst="textNoShape">
              <a:avLst/>
            </a:prstTxWarp>
            <a:noAutofit/>
          </a:bodyPr>
          <a:lstStyle/>
          <a:p>
            <a:endParaRPr lang="en-US"/>
          </a:p>
        </p:txBody>
      </p:sp>
      <p:pic>
        <p:nvPicPr>
          <p:cNvPr id="18433" name="Image 9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013" y="4187123"/>
            <a:ext cx="5734049" cy="27259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167603" y="3882097"/>
            <a:ext cx="118814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5080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508000" algn="l"/>
              </a:tabLst>
            </a:pPr>
            <a:r>
              <a:rPr kumimoji="0" lang="en-US" sz="1600" b="1" i="0" u="sng" strike="noStrike" cap="none" normalizeH="0" baseline="0" dirty="0" smtClean="0">
                <a:ln>
                  <a:noFill/>
                </a:ln>
                <a:solidFill>
                  <a:srgbClr val="001F5F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Endpoint: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-6096" y="417265"/>
            <a:ext cx="91440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089025" algn="l"/>
              </a:tabLst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</a:rPr>
              <a:t>API Endpoints: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1089025" algn="l"/>
              </a:tabLs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It’s a specific URL where the API can be accessed by a client to perform a certain action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1089025" algn="l"/>
              </a:tabLs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Acts as the communication touch point between the client and the server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1089025" algn="l"/>
              </a:tabLs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Usually include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F2F9F"/>
                </a:solidFill>
                <a:effectLst/>
                <a:latin typeface="+mn-lt"/>
                <a:ea typeface="Calibri" panose="020F0502020204030204" pitchFamily="34" charset="0"/>
              </a:rPr>
              <a:t>path parameters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and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F2F9F"/>
                </a:solidFill>
                <a:effectLst/>
                <a:latin typeface="+mn-lt"/>
                <a:ea typeface="Calibri" panose="020F0502020204030204" pitchFamily="34" charset="0"/>
              </a:rPr>
              <a:t>query parameters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1">
              <a:lnSpc>
                <a:spcPct val="150000"/>
              </a:lnSpc>
            </a:pPr>
            <a:r>
              <a:rPr kumimoji="0" lang="en-US" b="1" i="0" u="sng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</a:rPr>
              <a:t>Request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1089025" algn="l"/>
              </a:tabLs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Message sent by a client to the API to ask for information or perform an operation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>
                <a:tab pos="1089025" algn="l"/>
              </a:tabLs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Key components of a request: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914400" marR="0" lvl="2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Pct val="100000"/>
              <a:buFont typeface="Courier New" panose="02070309020205020404" pitchFamily="49" charset="0"/>
              <a:buChar char="○"/>
              <a:tabLst>
                <a:tab pos="1089025" algn="l"/>
              </a:tabLst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rgbClr val="6F2F9F"/>
                </a:solidFill>
                <a:effectLst/>
                <a:latin typeface="+mn-lt"/>
                <a:ea typeface="Calibri" panose="020F0502020204030204" pitchFamily="34" charset="0"/>
              </a:rPr>
              <a:t>Method: 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Specifies the type of operation (e.g., GET, POST, PUT, DELETE)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89025" algn="l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1361845" y="3659814"/>
            <a:ext cx="66543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89025" algn="l"/>
              </a:tabLst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  <a:t/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Calibri" panose="020F0502020204030204" pitchFamily="34" charset="0"/>
              </a:rPr>
            </a:b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rgbClr val="6F2F9F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Headers: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  <a:ea typeface="Calibri" panose="020F0502020204030204" pitchFamily="34" charset="0"/>
              </a:rPr>
              <a:t>Provide metadata about the request, such as content type</a:t>
            </a:r>
            <a:endParaRPr kumimoji="0" 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676400" y="5476875"/>
            <a:ext cx="4876800" cy="4892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274320" lvl="2" algn="just">
              <a:lnSpc>
                <a:spcPts val="1460"/>
              </a:lnSpc>
              <a:spcBef>
                <a:spcPts val="0"/>
              </a:spcBef>
              <a:spcAft>
                <a:spcPts val="0"/>
              </a:spcAft>
              <a:buSzPts val="1200"/>
              <a:tabLst>
                <a:tab pos="1089025" algn="l"/>
              </a:tabLst>
            </a:pPr>
            <a:r>
              <a:rPr lang="en-US" dirty="0" smtClean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Contains</a:t>
            </a:r>
            <a:r>
              <a:rPr lang="en-US" spc="-30" dirty="0" smtClean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pc="-35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data</a:t>
            </a:r>
            <a:r>
              <a:rPr lang="en-US" spc="-30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being</a:t>
            </a:r>
            <a:r>
              <a:rPr lang="en-US" spc="-30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sent</a:t>
            </a:r>
            <a:r>
              <a:rPr lang="en-US" spc="-25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to</a:t>
            </a:r>
            <a:r>
              <a:rPr lang="en-US" spc="-35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the</a:t>
            </a:r>
            <a:r>
              <a:rPr lang="en-US" spc="-30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 </a:t>
            </a:r>
            <a:r>
              <a:rPr lang="en-US" spc="-10" dirty="0">
                <a:solidFill>
                  <a:schemeClr val="bg1"/>
                </a:solidFill>
                <a:latin typeface="Comic Sans MS" panose="030F0702030302020204" pitchFamily="66" charset="0"/>
                <a:ea typeface="Wingdings" panose="05000000000000000000" pitchFamily="2" charset="2"/>
                <a:cs typeface="Wingdings" panose="05000000000000000000" pitchFamily="2" charset="2"/>
              </a:rPr>
              <a:t>server</a:t>
            </a:r>
            <a:endParaRPr lang="en-US" spc="0" dirty="0">
              <a:solidFill>
                <a:schemeClr val="bg1"/>
              </a:solidFill>
              <a:effectLst/>
              <a:latin typeface="Calibri" panose="020F0502020204030204" pitchFamily="34" charset="0"/>
              <a:ea typeface="Wingdings" panose="05000000000000000000" pitchFamily="2" charset="2"/>
              <a:cs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327366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-304800" y="862216"/>
            <a:ext cx="9144000" cy="3831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dirty="0" smtClean="0">
                <a:solidFill>
                  <a:srgbClr val="FF0000"/>
                </a:solidFill>
              </a:rPr>
              <a:t>Response: </a:t>
            </a:r>
          </a:p>
          <a:p>
            <a:pPr lvl="1">
              <a:lnSpc>
                <a:spcPct val="150000"/>
              </a:lnSpc>
            </a:pPr>
            <a:r>
              <a:rPr lang="en-US" dirty="0" smtClean="0"/>
              <a:t>message </a:t>
            </a:r>
            <a:r>
              <a:rPr lang="en-US" dirty="0"/>
              <a:t>sent back by the API after processing a client’s request</a:t>
            </a:r>
          </a:p>
          <a:p>
            <a:pPr lvl="1">
              <a:lnSpc>
                <a:spcPct val="150000"/>
              </a:lnSpc>
            </a:pPr>
            <a:r>
              <a:rPr lang="en-US" b="1" dirty="0"/>
              <a:t>Key components of a response: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Status Code: </a:t>
            </a:r>
            <a:r>
              <a:rPr lang="en-US" dirty="0"/>
              <a:t>Indicates the outcome of the request (e.g., success, error)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Headers: </a:t>
            </a:r>
            <a:r>
              <a:rPr lang="en-US" dirty="0"/>
              <a:t>Metadata about the response, such as content type or caching instructions</a:t>
            </a:r>
          </a:p>
          <a:p>
            <a:pPr lvl="2">
              <a:lnSpc>
                <a:spcPct val="150000"/>
              </a:lnSpc>
            </a:pPr>
            <a:r>
              <a:rPr lang="en-US" b="1" dirty="0"/>
              <a:t>Body: </a:t>
            </a:r>
            <a:r>
              <a:rPr lang="en-US" dirty="0"/>
              <a:t>The actual data being returned, typically in JSON, XML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089025" algn="l"/>
              </a:tabLst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89025" algn="l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83416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Working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Image 1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2000" y="914400"/>
            <a:ext cx="7315200" cy="5105400"/>
          </a:xfrm>
          <a:prstGeom prst="rect">
            <a:avLst/>
          </a:prstGeom>
        </p:spPr>
      </p:pic>
      <p:sp>
        <p:nvSpPr>
          <p:cNvPr id="2" name="Right Arrow 1"/>
          <p:cNvSpPr/>
          <p:nvPr/>
        </p:nvSpPr>
        <p:spPr>
          <a:xfrm>
            <a:off x="914400" y="5909247"/>
            <a:ext cx="33528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10800000">
            <a:off x="5033836" y="5867400"/>
            <a:ext cx="33528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3883" y="5913970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Client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7239000" y="6115605"/>
            <a:ext cx="1300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Web Server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82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-12192" y="238968"/>
            <a:ext cx="914400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en-US" dirty="0"/>
              <a:t> 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b="1" dirty="0" smtClean="0"/>
              <a:t>Rate </a:t>
            </a:r>
            <a:r>
              <a:rPr lang="en-US" b="1" dirty="0"/>
              <a:t>Limiting and Quotas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Mechanisms to control the number of requests a client can make within a specified </a:t>
            </a:r>
            <a:r>
              <a:rPr lang="en-US" dirty="0" smtClean="0"/>
              <a:t>time.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Mainly to prevent abuse and ensure fair usage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 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Headers for implementation: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X-</a:t>
            </a:r>
            <a:r>
              <a:rPr lang="en-US" b="1" dirty="0" err="1"/>
              <a:t>RateLimit</a:t>
            </a:r>
            <a:r>
              <a:rPr lang="en-US" b="1" dirty="0"/>
              <a:t>-Limit: </a:t>
            </a:r>
            <a:r>
              <a:rPr lang="en-US" dirty="0"/>
              <a:t>Maximum requests allowed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X-</a:t>
            </a:r>
            <a:r>
              <a:rPr lang="en-US" b="1" dirty="0" err="1"/>
              <a:t>RateLimit</a:t>
            </a:r>
            <a:r>
              <a:rPr lang="en-US" b="1" dirty="0"/>
              <a:t>-Remaining: </a:t>
            </a:r>
            <a:r>
              <a:rPr lang="en-US" dirty="0"/>
              <a:t>Requests remaining in the current window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Retry-After: </a:t>
            </a:r>
            <a:r>
              <a:rPr lang="en-US" dirty="0"/>
              <a:t>Time to wait before retrying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1089025" algn="l"/>
              </a:tabLst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089025" algn="l"/>
              </a:tabLst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9622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 Lifecycle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-24384" y="952073"/>
            <a:ext cx="9144000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0890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b="1" dirty="0"/>
              <a:t>API </a:t>
            </a:r>
            <a:r>
              <a:rPr lang="en-US" b="1" dirty="0" smtClean="0"/>
              <a:t>Lifecycle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API lifecycle refers to the comprehensive process of designing, developing, deploying, managing, and eventually retiring an API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It is a structured framework that ensures APIs are effective, scalable, secure, and meet business </a:t>
            </a:r>
            <a:r>
              <a:rPr lang="en-US" dirty="0" smtClean="0"/>
              <a:t>objectives</a:t>
            </a:r>
            <a:endParaRPr lang="en-US" dirty="0"/>
          </a:p>
        </p:txBody>
      </p:sp>
      <p:pic>
        <p:nvPicPr>
          <p:cNvPr id="8" name="Image 18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37816" y="3172363"/>
            <a:ext cx="4419600" cy="3431302"/>
          </a:xfrm>
          <a:prstGeom prst="rect">
            <a:avLst/>
          </a:prstGeom>
        </p:spPr>
      </p:pic>
      <p:sp>
        <p:nvSpPr>
          <p:cNvPr id="2" name="Right Arrow 1"/>
          <p:cNvSpPr/>
          <p:nvPr/>
        </p:nvSpPr>
        <p:spPr>
          <a:xfrm rot="10637328">
            <a:off x="6634594" y="4352282"/>
            <a:ext cx="3810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221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Planning &amp; Design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90500" y="1371600"/>
            <a:ext cx="8763000" cy="34214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274320" lvl="0" indent="-342900" algn="just">
              <a:spcBef>
                <a:spcPts val="5"/>
              </a:spcBef>
              <a:spcAft>
                <a:spcPts val="0"/>
              </a:spcAft>
              <a:buClr>
                <a:srgbClr val="001F5F"/>
              </a:buClr>
              <a:buSzPts val="1000"/>
              <a:buFont typeface="Calibri" panose="020F0502020204030204" pitchFamily="34" charset="0"/>
              <a:buAutoNum type="arabicPeriod"/>
              <a:tabLst>
                <a:tab pos="443230" algn="l"/>
              </a:tabLst>
            </a:pPr>
            <a:r>
              <a:rPr lang="en-US" sz="2000" b="1"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Planning</a:t>
            </a:r>
            <a:r>
              <a:rPr lang="en-US" sz="2000" b="1" u="sng" spc="5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 </a:t>
            </a:r>
            <a:r>
              <a:rPr lang="en-US" sz="2000" b="1" u="sng" spc="-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and</a:t>
            </a:r>
            <a:r>
              <a:rPr lang="en-US" sz="2000" b="1" u="sng" spc="55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 </a:t>
            </a:r>
            <a:r>
              <a:rPr lang="en-US" sz="2000" b="1" u="sng" spc="-10" dirty="0">
                <a:solidFill>
                  <a:srgbClr val="001F5F"/>
                </a:solidFill>
                <a:uFill>
                  <a:solidFill>
                    <a:srgbClr val="001F5F"/>
                  </a:solidFill>
                </a:uFill>
                <a:ea typeface="Calibri" panose="020F0502020204030204" pitchFamily="34" charset="0"/>
              </a:rPr>
              <a:t>Design:</a:t>
            </a:r>
            <a:endParaRPr lang="en-US" sz="2000" spc="-5" dirty="0">
              <a:ea typeface="Calibri" panose="020F0502020204030204" pitchFamily="34" charset="0"/>
            </a:endParaRPr>
          </a:p>
          <a:p>
            <a:pPr marL="742950" marR="274320" lvl="1" indent="-285750" algn="just">
              <a:spcBef>
                <a:spcPts val="635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○"/>
              <a:tabLst>
                <a:tab pos="662305" algn="l"/>
              </a:tabLst>
            </a:pPr>
            <a:r>
              <a:rPr lang="en-US" sz="2000" dirty="0">
                <a:ea typeface="Courier New" panose="02070309020205020404" pitchFamily="49" charset="0"/>
              </a:rPr>
              <a:t>Identify</a:t>
            </a:r>
            <a:r>
              <a:rPr lang="en-US" sz="2000" spc="3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business</a:t>
            </a:r>
            <a:r>
              <a:rPr lang="en-US" sz="2000" spc="4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goals,</a:t>
            </a:r>
            <a:r>
              <a:rPr lang="en-US" sz="2000" spc="4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user</a:t>
            </a:r>
            <a:r>
              <a:rPr lang="en-US" sz="2000" spc="5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needs,</a:t>
            </a:r>
            <a:r>
              <a:rPr lang="en-US" sz="2000" spc="5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and</a:t>
            </a:r>
            <a:r>
              <a:rPr lang="en-US" sz="2000" spc="4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the</a:t>
            </a:r>
            <a:r>
              <a:rPr lang="en-US" sz="2000" spc="4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problems</a:t>
            </a:r>
            <a:r>
              <a:rPr lang="en-US" sz="2000" spc="5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the</a:t>
            </a:r>
            <a:r>
              <a:rPr lang="en-US" sz="2000" spc="4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API</a:t>
            </a:r>
            <a:r>
              <a:rPr lang="en-US" sz="2000" spc="4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will</a:t>
            </a:r>
            <a:r>
              <a:rPr lang="en-US" sz="2000" spc="40" dirty="0">
                <a:ea typeface="Courier New" panose="02070309020205020404" pitchFamily="49" charset="0"/>
              </a:rPr>
              <a:t> </a:t>
            </a:r>
            <a:r>
              <a:rPr lang="en-US" sz="2000" spc="-10" dirty="0">
                <a:ea typeface="Courier New" panose="02070309020205020404" pitchFamily="49" charset="0"/>
              </a:rPr>
              <a:t>solve</a:t>
            </a:r>
            <a:endParaRPr lang="en-US" sz="2000" dirty="0">
              <a:ea typeface="Courier New" panose="02070309020205020404" pitchFamily="49" charset="0"/>
            </a:endParaRPr>
          </a:p>
          <a:p>
            <a:pPr marL="742950" marR="274320" lvl="1" indent="-285750" algn="just">
              <a:spcBef>
                <a:spcPts val="840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○"/>
              <a:tabLst>
                <a:tab pos="662305" algn="l"/>
              </a:tabLst>
            </a:pPr>
            <a:r>
              <a:rPr lang="en-US" sz="2000" dirty="0">
                <a:ea typeface="Courier New" panose="02070309020205020404" pitchFamily="49" charset="0"/>
              </a:rPr>
              <a:t>Determine</a:t>
            </a:r>
            <a:r>
              <a:rPr lang="en-US" sz="2000" spc="5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the</a:t>
            </a:r>
            <a:r>
              <a:rPr lang="en-US" sz="2000" spc="6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target</a:t>
            </a:r>
            <a:r>
              <a:rPr lang="en-US" sz="2000" spc="4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audience:</a:t>
            </a:r>
            <a:r>
              <a:rPr lang="en-US" sz="2000" spc="5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developers,</a:t>
            </a:r>
            <a:r>
              <a:rPr lang="en-US" sz="2000" spc="7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partners,</a:t>
            </a:r>
            <a:r>
              <a:rPr lang="en-US" sz="2000" spc="6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or</a:t>
            </a:r>
            <a:r>
              <a:rPr lang="en-US" sz="2000" spc="5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internal</a:t>
            </a:r>
            <a:r>
              <a:rPr lang="en-US" sz="2000" spc="55" dirty="0">
                <a:ea typeface="Courier New" panose="02070309020205020404" pitchFamily="49" charset="0"/>
              </a:rPr>
              <a:t> </a:t>
            </a:r>
            <a:r>
              <a:rPr lang="en-US" sz="2000" spc="-10" dirty="0">
                <a:ea typeface="Courier New" panose="02070309020205020404" pitchFamily="49" charset="0"/>
              </a:rPr>
              <a:t>teams</a:t>
            </a:r>
            <a:endParaRPr lang="en-US" sz="2000" dirty="0">
              <a:ea typeface="Courier New" panose="02070309020205020404" pitchFamily="49" charset="0"/>
            </a:endParaRPr>
          </a:p>
          <a:p>
            <a:pPr marL="742950" marR="274320" lvl="1" indent="-285750" algn="just">
              <a:spcBef>
                <a:spcPts val="835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○"/>
              <a:tabLst>
                <a:tab pos="662305" algn="l"/>
              </a:tabLst>
            </a:pPr>
            <a:r>
              <a:rPr lang="en-US" sz="2000" dirty="0">
                <a:ea typeface="Courier New" panose="02070309020205020404" pitchFamily="49" charset="0"/>
              </a:rPr>
              <a:t>Define</a:t>
            </a:r>
            <a:r>
              <a:rPr lang="en-US" sz="2000" spc="6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endpoints,</a:t>
            </a:r>
            <a:r>
              <a:rPr lang="en-US" sz="2000" spc="7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request/response</a:t>
            </a:r>
            <a:r>
              <a:rPr lang="en-US" sz="2000" spc="9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formats,</a:t>
            </a:r>
            <a:r>
              <a:rPr lang="en-US" sz="2000" spc="8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and</a:t>
            </a:r>
            <a:r>
              <a:rPr lang="en-US" sz="2000" spc="7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data</a:t>
            </a:r>
            <a:r>
              <a:rPr lang="en-US" sz="2000" spc="50" dirty="0">
                <a:ea typeface="Courier New" panose="02070309020205020404" pitchFamily="49" charset="0"/>
              </a:rPr>
              <a:t> </a:t>
            </a:r>
            <a:r>
              <a:rPr lang="en-US" sz="2000" spc="-10" dirty="0">
                <a:ea typeface="Courier New" panose="02070309020205020404" pitchFamily="49" charset="0"/>
              </a:rPr>
              <a:t>models</a:t>
            </a:r>
            <a:endParaRPr lang="en-US" sz="2000" dirty="0">
              <a:ea typeface="Courier New" panose="02070309020205020404" pitchFamily="49" charset="0"/>
            </a:endParaRPr>
          </a:p>
          <a:p>
            <a:pPr marL="742950" marR="274320" lvl="1" indent="-285750" algn="just">
              <a:spcBef>
                <a:spcPts val="835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○"/>
              <a:tabLst>
                <a:tab pos="662305" algn="l"/>
              </a:tabLst>
            </a:pPr>
            <a:r>
              <a:rPr lang="en-US" sz="2000" dirty="0">
                <a:ea typeface="Courier New" panose="02070309020205020404" pitchFamily="49" charset="0"/>
              </a:rPr>
              <a:t>Follow</a:t>
            </a:r>
            <a:r>
              <a:rPr lang="en-US" sz="2000" spc="5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design</a:t>
            </a:r>
            <a:r>
              <a:rPr lang="en-US" sz="2000" spc="4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methodologies</a:t>
            </a:r>
            <a:r>
              <a:rPr lang="en-US" sz="2000" spc="5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like</a:t>
            </a:r>
            <a:r>
              <a:rPr lang="en-US" sz="2000" spc="4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solidFill>
                  <a:srgbClr val="6F2F9F"/>
                </a:solidFill>
                <a:ea typeface="Courier New" panose="02070309020205020404" pitchFamily="49" charset="0"/>
              </a:rPr>
              <a:t>REST</a:t>
            </a:r>
            <a:r>
              <a:rPr lang="en-US" sz="2000" dirty="0">
                <a:ea typeface="Courier New" panose="02070309020205020404" pitchFamily="49" charset="0"/>
              </a:rPr>
              <a:t>,</a:t>
            </a:r>
            <a:r>
              <a:rPr lang="en-US" sz="2000" spc="60" dirty="0">
                <a:ea typeface="Courier New" panose="02070309020205020404" pitchFamily="49" charset="0"/>
              </a:rPr>
              <a:t> </a:t>
            </a:r>
            <a:r>
              <a:rPr lang="en-US" sz="2000" dirty="0" err="1">
                <a:solidFill>
                  <a:srgbClr val="6F2F9F"/>
                </a:solidFill>
                <a:ea typeface="Courier New" panose="02070309020205020404" pitchFamily="49" charset="0"/>
              </a:rPr>
              <a:t>GraphQL</a:t>
            </a:r>
            <a:r>
              <a:rPr lang="en-US" sz="2000" dirty="0">
                <a:ea typeface="Courier New" panose="02070309020205020404" pitchFamily="49" charset="0"/>
              </a:rPr>
              <a:t>,</a:t>
            </a:r>
            <a:r>
              <a:rPr lang="en-US" sz="2000" spc="6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or</a:t>
            </a:r>
            <a:r>
              <a:rPr lang="en-US" sz="2000" spc="55" dirty="0">
                <a:ea typeface="Courier New" panose="02070309020205020404" pitchFamily="49" charset="0"/>
              </a:rPr>
              <a:t> </a:t>
            </a:r>
            <a:r>
              <a:rPr lang="en-US" sz="2000" spc="-20" dirty="0" err="1">
                <a:solidFill>
                  <a:srgbClr val="6F2F9F"/>
                </a:solidFill>
                <a:ea typeface="Courier New" panose="02070309020205020404" pitchFamily="49" charset="0"/>
              </a:rPr>
              <a:t>gRPC</a:t>
            </a:r>
            <a:endParaRPr lang="en-US" sz="2000" dirty="0">
              <a:ea typeface="Courier New" panose="02070309020205020404" pitchFamily="49" charset="0"/>
            </a:endParaRPr>
          </a:p>
          <a:p>
            <a:pPr marL="742950" marR="274320" lvl="1" indent="-285750" algn="just">
              <a:spcBef>
                <a:spcPts val="835"/>
              </a:spcBef>
              <a:spcAft>
                <a:spcPts val="0"/>
              </a:spcAft>
              <a:buSzPts val="1000"/>
              <a:buFont typeface="Courier New" panose="02070309020205020404" pitchFamily="49" charset="0"/>
              <a:buChar char="○"/>
              <a:tabLst>
                <a:tab pos="662305" algn="l"/>
              </a:tabLst>
            </a:pPr>
            <a:r>
              <a:rPr lang="en-US" sz="2000" dirty="0">
                <a:ea typeface="Courier New" panose="02070309020205020404" pitchFamily="49" charset="0"/>
              </a:rPr>
              <a:t>Ensure</a:t>
            </a:r>
            <a:r>
              <a:rPr lang="en-US" sz="2000" spc="5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adherence</a:t>
            </a:r>
            <a:r>
              <a:rPr lang="en-US" sz="2000" spc="6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to</a:t>
            </a:r>
            <a:r>
              <a:rPr lang="en-US" sz="2000" spc="5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API</a:t>
            </a:r>
            <a:r>
              <a:rPr lang="en-US" sz="2000" spc="6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design</a:t>
            </a:r>
            <a:r>
              <a:rPr lang="en-US" sz="2000" spc="4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best</a:t>
            </a:r>
            <a:r>
              <a:rPr lang="en-US" sz="2000" spc="6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practices,</a:t>
            </a:r>
            <a:r>
              <a:rPr lang="en-US" sz="2000" spc="6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such</a:t>
            </a:r>
            <a:r>
              <a:rPr lang="en-US" sz="2000" spc="6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as</a:t>
            </a:r>
            <a:r>
              <a:rPr lang="en-US" sz="2000" spc="4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intuitive</a:t>
            </a:r>
            <a:r>
              <a:rPr lang="en-US" sz="2000" spc="4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endpoints,</a:t>
            </a:r>
            <a:r>
              <a:rPr lang="en-US" sz="2000" spc="6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consistent</a:t>
            </a:r>
            <a:r>
              <a:rPr lang="en-US" sz="2000" spc="5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naming,</a:t>
            </a:r>
            <a:r>
              <a:rPr lang="en-US" sz="2000" spc="45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and</a:t>
            </a:r>
            <a:r>
              <a:rPr lang="en-US" sz="2000" spc="50" dirty="0"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proper</a:t>
            </a:r>
            <a:r>
              <a:rPr lang="en-US" sz="2000" spc="65" dirty="0">
                <a:ea typeface="Courier New" panose="02070309020205020404" pitchFamily="49" charset="0"/>
              </a:rPr>
              <a:t> </a:t>
            </a:r>
            <a:r>
              <a:rPr lang="en-US" sz="2000" spc="-10" dirty="0" smtClean="0">
                <a:ea typeface="Courier New" panose="02070309020205020404" pitchFamily="49" charset="0"/>
              </a:rPr>
              <a:t>versioning (CMM Level 5)</a:t>
            </a:r>
            <a:endParaRPr lang="en-US" sz="2000" dirty="0">
              <a:ea typeface="Courier New" panose="02070309020205020404" pitchFamily="49" charset="0"/>
            </a:endParaRPr>
          </a:p>
          <a:p>
            <a:pPr marL="742950" marR="274320" lvl="1" indent="-285750" algn="just">
              <a:spcBef>
                <a:spcPts val="840"/>
              </a:spcBef>
              <a:spcAft>
                <a:spcPts val="20"/>
              </a:spcAft>
              <a:buSzPts val="1000"/>
              <a:buFont typeface="Courier New" panose="02070309020205020404" pitchFamily="49" charset="0"/>
              <a:buChar char="○"/>
              <a:tabLst>
                <a:tab pos="662305" algn="l"/>
              </a:tabLst>
            </a:pPr>
            <a:r>
              <a:rPr lang="en-US" sz="2000" b="1" dirty="0">
                <a:solidFill>
                  <a:srgbClr val="6F2F9F"/>
                </a:solidFill>
                <a:ea typeface="Courier New" panose="02070309020205020404" pitchFamily="49" charset="0"/>
              </a:rPr>
              <a:t>Tools:</a:t>
            </a:r>
            <a:r>
              <a:rPr lang="en-US" sz="2000" b="1" spc="45" dirty="0">
                <a:solidFill>
                  <a:srgbClr val="6F2F9F"/>
                </a:solidFill>
                <a:ea typeface="Courier New" panose="02070309020205020404" pitchFamily="49" charset="0"/>
              </a:rPr>
              <a:t> </a:t>
            </a:r>
            <a:r>
              <a:rPr lang="en-US" sz="2000" dirty="0">
                <a:ea typeface="Courier New" panose="02070309020205020404" pitchFamily="49" charset="0"/>
              </a:rPr>
              <a:t>Postman,</a:t>
            </a:r>
            <a:r>
              <a:rPr lang="en-US" sz="2000" spc="60" dirty="0">
                <a:ea typeface="Courier New" panose="02070309020205020404" pitchFamily="49" charset="0"/>
              </a:rPr>
              <a:t> </a:t>
            </a:r>
            <a:r>
              <a:rPr lang="en-US" sz="2000" dirty="0" err="1">
                <a:ea typeface="Courier New" panose="02070309020205020404" pitchFamily="49" charset="0"/>
              </a:rPr>
              <a:t>SwaggerHub</a:t>
            </a:r>
            <a:r>
              <a:rPr lang="en-US" dirty="0">
                <a:ea typeface="Courier New" panose="02070309020205020404" pitchFamily="49" charset="0"/>
              </a:rPr>
              <a:t>,</a:t>
            </a:r>
            <a:r>
              <a:rPr lang="en-US" spc="6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and</a:t>
            </a:r>
            <a:r>
              <a:rPr lang="en-US" spc="6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Stoplight</a:t>
            </a:r>
            <a:r>
              <a:rPr lang="en-US" spc="45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for</a:t>
            </a:r>
            <a:r>
              <a:rPr lang="en-US" spc="5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API</a:t>
            </a:r>
            <a:r>
              <a:rPr lang="en-US" spc="6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design</a:t>
            </a:r>
            <a:r>
              <a:rPr lang="en-US" spc="50" dirty="0">
                <a:ea typeface="Courier New" panose="02070309020205020404" pitchFamily="49" charset="0"/>
              </a:rPr>
              <a:t> </a:t>
            </a:r>
            <a:r>
              <a:rPr lang="en-US" dirty="0">
                <a:ea typeface="Courier New" panose="02070309020205020404" pitchFamily="49" charset="0"/>
              </a:rPr>
              <a:t>and</a:t>
            </a:r>
            <a:r>
              <a:rPr lang="en-US" spc="55" dirty="0">
                <a:ea typeface="Courier New" panose="02070309020205020404" pitchFamily="49" charset="0"/>
              </a:rPr>
              <a:t> </a:t>
            </a:r>
            <a:r>
              <a:rPr lang="en-US" spc="-10" dirty="0">
                <a:ea typeface="Courier New" panose="02070309020205020404" pitchFamily="49" charset="0"/>
              </a:rPr>
              <a:t>documentation</a:t>
            </a:r>
            <a:endParaRPr lang="en-US" spc="0" dirty="0">
              <a:effectLst/>
              <a:ea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62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 Development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28600" y="914400"/>
            <a:ext cx="8763000" cy="3939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u="sng" dirty="0"/>
              <a:t>Development</a:t>
            </a:r>
            <a:r>
              <a:rPr lang="en-US" sz="2000" b="1" u="sng" dirty="0" smtClean="0"/>
              <a:t>:</a:t>
            </a:r>
          </a:p>
          <a:p>
            <a:pPr lvl="0"/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The development phase involves implementing the API's backend logic and infrastructure</a:t>
            </a:r>
          </a:p>
          <a:p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/>
              <a:t>Write the server-side code using programming frameworks like Flask, </a:t>
            </a:r>
            <a:r>
              <a:rPr lang="en-US" sz="2000" dirty="0" err="1"/>
              <a:t>FastAPI</a:t>
            </a:r>
            <a:r>
              <a:rPr lang="en-US" sz="2000" dirty="0"/>
              <a:t>, or Express.js</a:t>
            </a:r>
          </a:p>
          <a:p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Integrate authentication and security mechanisms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Perform unit testing to validate individual functions and methods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Tools: </a:t>
            </a:r>
            <a:r>
              <a:rPr lang="en-US" sz="2000" dirty="0" err="1"/>
              <a:t>Git</a:t>
            </a:r>
            <a:r>
              <a:rPr lang="en-US" sz="2000" dirty="0"/>
              <a:t>, Jenkins, </a:t>
            </a:r>
            <a:r>
              <a:rPr lang="en-US" sz="2000" dirty="0" err="1"/>
              <a:t>Docker</a:t>
            </a:r>
            <a:r>
              <a:rPr lang="en-US" sz="2000" dirty="0"/>
              <a:t>, or </a:t>
            </a:r>
            <a:r>
              <a:rPr lang="en-US" sz="2000" dirty="0" err="1"/>
              <a:t>Kubernetes</a:t>
            </a:r>
            <a:r>
              <a:rPr lang="en-US" sz="2000" dirty="0"/>
              <a:t> for CI/CD </a:t>
            </a:r>
            <a:r>
              <a:rPr lang="en-US" sz="2000" dirty="0" smtClean="0"/>
              <a:t>pipelines</a:t>
            </a:r>
          </a:p>
        </p:txBody>
      </p:sp>
    </p:spTree>
    <p:extLst>
      <p:ext uri="{BB962C8B-B14F-4D97-AF65-F5344CB8AC3E}">
        <p14:creationId xmlns:p14="http://schemas.microsoft.com/office/powerpoint/2010/main" val="2102449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 Deployment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28600" y="914400"/>
            <a:ext cx="8763000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b="1" u="sng" dirty="0"/>
              <a:t>Deployment:</a:t>
            </a:r>
            <a:endParaRPr lang="en-US" sz="2000" dirty="0"/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Involves releasing the API into a production environment where users can access it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Deploy the API to staging, testing, and production environments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Use cloud services like AWS, Azure, or GCP for scalability and reliability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Set up an API gateway to manage routing, caching, and load balancing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Popular gateways include AWS API Gateway, </a:t>
            </a:r>
            <a:r>
              <a:rPr lang="en-US" sz="2000" dirty="0" smtClean="0"/>
              <a:t>Kong</a:t>
            </a:r>
            <a:r>
              <a:rPr lang="en-US" sz="2000" dirty="0"/>
              <a:t> </a:t>
            </a:r>
            <a:r>
              <a:rPr lang="en-US" sz="2000" dirty="0" smtClean="0"/>
              <a:t>….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731826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 Monitoring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28600" y="914400"/>
            <a:ext cx="87630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2000" b="1" u="sng" dirty="0"/>
              <a:t>Monitoring and Management: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Track performance metrics like response times, uptime, and error rates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Gather usage data to understand traffic patterns, popular endpoints, and user behavior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Identify areas for improvement or optimization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Enforce rate limiting to prevent abuse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Tools: </a:t>
            </a:r>
            <a:r>
              <a:rPr lang="en-US" sz="2000" dirty="0" err="1"/>
              <a:t>Datadog</a:t>
            </a:r>
            <a:r>
              <a:rPr lang="en-US" sz="2000" dirty="0"/>
              <a:t>, New Relic, </a:t>
            </a:r>
            <a:r>
              <a:rPr lang="en-US" sz="2000" dirty="0" err="1" smtClean="0"/>
              <a:t>splunk</a:t>
            </a:r>
            <a:r>
              <a:rPr lang="en-US" sz="2000" dirty="0" smtClean="0"/>
              <a:t> and </a:t>
            </a:r>
            <a:r>
              <a:rPr lang="en-US" sz="2000" dirty="0" err="1"/>
              <a:t>Grafana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/>
            </a:r>
            <a:br>
              <a:rPr lang="en-US" sz="2000" dirty="0"/>
            </a:b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466284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API Monitoring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76200" y="685800"/>
            <a:ext cx="87630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000" b="1" u="sng" dirty="0"/>
              <a:t>Updates and Versioning: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Ensure new updates do not break existing clients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 clear migration paths if breaking changes are unavoidable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Notify users in advance of deprecated features or versions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 timelines and guidelines for transition</a:t>
            </a:r>
          </a:p>
          <a:p>
            <a:endParaRPr lang="en-US" sz="2000" dirty="0"/>
          </a:p>
          <a:p>
            <a:r>
              <a:rPr lang="en-US" sz="2000" dirty="0"/>
              <a:t> </a:t>
            </a:r>
          </a:p>
          <a:p>
            <a:pPr lvl="0"/>
            <a:r>
              <a:rPr lang="en-US" sz="2000" b="1" u="sng" dirty="0"/>
              <a:t>Retirement:</a:t>
            </a:r>
            <a:endParaRPr lang="en-US" sz="20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When an API no longer serves its purpose, it is retired or deprecated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Inform stakeholders and users about the API’s retirement well in advance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Provide tools or resources to help users transition to newer APIs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Archive or securely dispose of any stored data associated with the API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563942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Fast 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266700" y="608112"/>
            <a:ext cx="8610600" cy="67710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8500" algn="l"/>
              </a:tabLst>
            </a:pPr>
            <a:r>
              <a:rPr kumimoji="0" lang="en-US" sz="2200" b="0" i="0" u="none" strike="noStrike" cap="none" normalizeH="0" baseline="0" dirty="0" err="1" smtClean="0">
                <a:ln>
                  <a:noFill/>
                </a:ln>
                <a:solidFill>
                  <a:srgbClr val="FF0000"/>
                </a:solidFill>
                <a:effectLst/>
                <a:latin typeface="+mn-lt"/>
                <a:ea typeface="Calibri" panose="020F0502020204030204" pitchFamily="34" charset="0"/>
              </a:rPr>
              <a:t>FastAPI</a:t>
            </a: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 is a modern, high-performance web framework for building APIs with Python based on standard Python type hints.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98500" algn="l"/>
              </a:tabLst>
            </a:pPr>
            <a:endParaRPr lang="en-US" sz="2200" dirty="0">
              <a:latin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98500" algn="l"/>
              </a:tabLst>
            </a:pPr>
            <a:endParaRPr kumimoji="0" lang="en-US" sz="2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  <a:ea typeface="Calibri" panose="020F0502020204030204" pitchFamily="34" charset="0"/>
            </a:endParaRP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98500" algn="l"/>
              </a:tabLst>
            </a:pPr>
            <a:r>
              <a:rPr kumimoji="0" lang="en-US" sz="2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</a:rPr>
              <a:t>It is designed to make it easy and fast to build efficient, production-ready APIs, especially those involving asynchronous I/O operations and data validation</a:t>
            </a:r>
          </a:p>
          <a:p>
            <a:pPr marL="457200" marR="0" lvl="1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98500" algn="l"/>
              </a:tabLst>
            </a:pPr>
            <a:endParaRPr lang="en-US" sz="2200" dirty="0">
              <a:latin typeface="+mn-lt"/>
            </a:endParaRPr>
          </a:p>
          <a:p>
            <a:pPr lvl="0">
              <a:lnSpc>
                <a:spcPct val="150000"/>
              </a:lnSpc>
            </a:pPr>
            <a:r>
              <a:rPr lang="en-US" sz="2200" b="1" dirty="0">
                <a:latin typeface="+mn-lt"/>
              </a:rPr>
              <a:t>F</a:t>
            </a:r>
            <a:r>
              <a:rPr lang="en-US" sz="2200" b="1" dirty="0" smtClean="0">
                <a:latin typeface="+mn-lt"/>
              </a:rPr>
              <a:t>or </a:t>
            </a:r>
            <a:r>
              <a:rPr lang="en-US" sz="2200" b="1" dirty="0">
                <a:latin typeface="+mn-lt"/>
              </a:rPr>
              <a:t>ML &amp; Data Science Projects: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Wrapping ML models as APIs (</a:t>
            </a:r>
            <a:r>
              <a:rPr lang="en-US" sz="2200" b="1" dirty="0">
                <a:latin typeface="+mn-lt"/>
              </a:rPr>
              <a:t>/predict</a:t>
            </a:r>
            <a:r>
              <a:rPr lang="en-US" sz="2200" dirty="0">
                <a:latin typeface="+mn-lt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Serving pre/post-processing logic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latin typeface="+mn-lt"/>
              </a:rPr>
              <a:t>Managing model versions and feature </a:t>
            </a:r>
            <a:r>
              <a:rPr lang="en-US" sz="2200" dirty="0" smtClean="0">
                <a:latin typeface="+mn-lt"/>
              </a:rPr>
              <a:t>validation</a:t>
            </a:r>
          </a:p>
          <a:p>
            <a:pPr lvl="0">
              <a:lnSpc>
                <a:spcPct val="150000"/>
              </a:lnSpc>
            </a:pPr>
            <a:endParaRPr lang="en-US" sz="2200" dirty="0" smtClean="0">
              <a:latin typeface="+mn-lt"/>
            </a:endParaRPr>
          </a:p>
          <a:p>
            <a:pPr lvl="0">
              <a:lnSpc>
                <a:spcPct val="150000"/>
              </a:lnSpc>
            </a:pPr>
            <a:r>
              <a:rPr lang="en-US" sz="2200" b="1" dirty="0" smtClean="0">
                <a:latin typeface="+mn-lt"/>
              </a:rPr>
              <a:t>For enterprise level secured API to expose business data</a:t>
            </a:r>
            <a:endParaRPr lang="en-US" sz="2200" b="1" dirty="0">
              <a:latin typeface="+mn-lt"/>
            </a:endParaRPr>
          </a:p>
          <a:p>
            <a:pPr marL="457200" marR="0" lvl="1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63745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Fast 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9" name="Image 20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536574"/>
            <a:ext cx="9144000" cy="632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30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Fast 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-152400" y="1600200"/>
            <a:ext cx="86106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b="1" dirty="0" err="1"/>
              <a:t>Starlette</a:t>
            </a:r>
            <a:r>
              <a:rPr lang="en-US" b="1" dirty="0"/>
              <a:t>:</a:t>
            </a:r>
            <a:endParaRPr lang="en-US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Lightweight ASGI web framework/toolkit used as the </a:t>
            </a:r>
            <a:r>
              <a:rPr lang="en-US" b="1" dirty="0"/>
              <a:t>core web layer </a:t>
            </a:r>
            <a:r>
              <a:rPr lang="en-US" dirty="0"/>
              <a:t>in </a:t>
            </a:r>
            <a:r>
              <a:rPr lang="en-US" dirty="0" err="1"/>
              <a:t>FastAPI</a:t>
            </a:r>
            <a:endParaRPr lang="en-US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Handles the registration and dispatching of HTTP routes (e.g., GET, POST)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Enables real-time </a:t>
            </a:r>
            <a:r>
              <a:rPr lang="en-US" dirty="0" err="1"/>
              <a:t>WebSocket</a:t>
            </a:r>
            <a:r>
              <a:rPr lang="en-US" dirty="0"/>
              <a:t> communication</a:t>
            </a:r>
          </a:p>
          <a:p>
            <a:pPr marL="457200" marR="0" lvl="1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47050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Fast 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6200" y="1066800"/>
            <a:ext cx="8610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b="1" dirty="0" err="1"/>
              <a:t>Pydantic</a:t>
            </a:r>
            <a:r>
              <a:rPr lang="en-US" b="1" dirty="0"/>
              <a:t>:</a:t>
            </a:r>
            <a:endParaRPr lang="en-US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Data parsing and validation library that leverages Python’s type hints to enforce and transform data structures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Ensures request bodies, query </a:t>
            </a:r>
            <a:r>
              <a:rPr lang="en-US" dirty="0" err="1"/>
              <a:t>params</a:t>
            </a:r>
            <a:r>
              <a:rPr lang="en-US" dirty="0"/>
              <a:t>, headers, and path </a:t>
            </a:r>
            <a:r>
              <a:rPr lang="en-US" dirty="0" err="1"/>
              <a:t>params</a:t>
            </a:r>
            <a:r>
              <a:rPr lang="en-US" dirty="0"/>
              <a:t> match expected types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Converts data (e.g., string to </a:t>
            </a:r>
            <a:r>
              <a:rPr lang="en-US" dirty="0" err="1"/>
              <a:t>int</a:t>
            </a:r>
            <a:r>
              <a:rPr lang="en-US" dirty="0"/>
              <a:t>, string to </a:t>
            </a:r>
            <a:r>
              <a:rPr lang="en-US" dirty="0" err="1"/>
              <a:t>datetime</a:t>
            </a:r>
            <a:r>
              <a:rPr lang="en-US" dirty="0"/>
              <a:t>) before it reaches your function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Helps auto-generate JSON Schema for documentation</a:t>
            </a:r>
          </a:p>
          <a:p>
            <a:pPr marL="800100" marR="0" lvl="1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9829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Fast 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-152400" y="1600203"/>
            <a:ext cx="861060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lnSpc>
                <a:spcPct val="150000"/>
              </a:lnSpc>
            </a:pPr>
            <a:r>
              <a:rPr lang="en-US" b="1" dirty="0" err="1"/>
              <a:t>Uvicorn</a:t>
            </a:r>
            <a:r>
              <a:rPr lang="en-US" b="1" dirty="0"/>
              <a:t>:</a:t>
            </a:r>
            <a:endParaRPr lang="en-US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A lightning-fast ASGI server implementation based on </a:t>
            </a:r>
            <a:r>
              <a:rPr lang="en-US" b="1" dirty="0" err="1"/>
              <a:t>uvloop</a:t>
            </a:r>
            <a:r>
              <a:rPr lang="en-US" b="1" dirty="0"/>
              <a:t> </a:t>
            </a:r>
            <a:r>
              <a:rPr lang="en-US" dirty="0"/>
              <a:t>and </a:t>
            </a:r>
            <a:r>
              <a:rPr lang="en-US" b="1" dirty="0" err="1"/>
              <a:t>httptools</a:t>
            </a:r>
            <a:endParaRPr lang="en-US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Launches </a:t>
            </a:r>
            <a:r>
              <a:rPr lang="en-US" dirty="0" err="1"/>
              <a:t>FastAPI</a:t>
            </a:r>
            <a:r>
              <a:rPr lang="en-US" dirty="0"/>
              <a:t> apps and handles incoming client requests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Communicates with </a:t>
            </a:r>
            <a:r>
              <a:rPr lang="en-US" dirty="0" err="1"/>
              <a:t>FastAPI</a:t>
            </a:r>
            <a:r>
              <a:rPr lang="en-US" dirty="0"/>
              <a:t> via the ASGI specification</a:t>
            </a:r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 err="1"/>
              <a:t>async</a:t>
            </a:r>
            <a:r>
              <a:rPr lang="en-US" b="1" dirty="0"/>
              <a:t> </a:t>
            </a:r>
            <a:r>
              <a:rPr lang="en-US" dirty="0"/>
              <a:t>I/O, which makes it fast and scalable</a:t>
            </a:r>
          </a:p>
          <a:p>
            <a:pPr marL="800100" marR="0" lvl="1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27737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Comparison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467755"/>
              </p:ext>
            </p:extLst>
          </p:nvPr>
        </p:nvGraphicFramePr>
        <p:xfrm>
          <a:off x="76200" y="609600"/>
          <a:ext cx="9067799" cy="617220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141583"/>
                <a:gridCol w="2159788"/>
                <a:gridCol w="1638460"/>
                <a:gridCol w="1712935"/>
                <a:gridCol w="1415033"/>
              </a:tblGrid>
              <a:tr h="206648"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FEATURE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 dirty="0" err="1">
                          <a:solidFill>
                            <a:schemeClr val="tx1"/>
                          </a:solidFill>
                          <a:effectLst/>
                        </a:rPr>
                        <a:t>FastAPI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20" dirty="0">
                          <a:solidFill>
                            <a:schemeClr val="tx1"/>
                          </a:solidFill>
                          <a:effectLst/>
                        </a:rPr>
                        <a:t>Flask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 dirty="0" err="1">
                          <a:solidFill>
                            <a:schemeClr val="tx1"/>
                          </a:solidFill>
                          <a:effectLst/>
                        </a:rPr>
                        <a:t>Django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 dirty="0">
                          <a:solidFill>
                            <a:schemeClr val="tx1"/>
                          </a:solidFill>
                          <a:effectLst/>
                        </a:rPr>
                        <a:t>Falcon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>
                    <a:solidFill>
                      <a:srgbClr val="FFC000"/>
                    </a:solidFill>
                  </a:tcPr>
                </a:tc>
              </a:tr>
              <a:tr h="205828"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Release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 spc="-20">
                          <a:effectLst/>
                        </a:rPr>
                        <a:t>Year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20" dirty="0">
                          <a:effectLst/>
                        </a:rPr>
                        <a:t>2018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20" dirty="0">
                          <a:effectLst/>
                        </a:rPr>
                        <a:t>2010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20" dirty="0">
                          <a:effectLst/>
                        </a:rPr>
                        <a:t>2005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20" dirty="0">
                          <a:effectLst/>
                        </a:rPr>
                        <a:t>2013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397551">
                <a:tc>
                  <a:txBody>
                    <a:bodyPr/>
                    <a:lstStyle/>
                    <a:p>
                      <a:pPr marL="182880" marR="274320" indent="-165735" algn="ctr">
                        <a:lnSpc>
                          <a:spcPct val="101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20">
                          <a:effectLst/>
                        </a:rPr>
                        <a:t>Asynchronous </a:t>
                      </a:r>
                      <a:r>
                        <a:rPr lang="en-US" sz="1200" spc="-10">
                          <a:effectLst/>
                        </a:rPr>
                        <a:t>Support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 dirty="0">
                          <a:effectLst/>
                        </a:rPr>
                        <a:t>Native (</a:t>
                      </a:r>
                      <a:r>
                        <a:rPr lang="en-US" sz="1200" spc="-10" dirty="0" err="1">
                          <a:effectLst/>
                        </a:rPr>
                        <a:t>async</a:t>
                      </a:r>
                      <a:r>
                        <a:rPr lang="en-US" sz="1200" spc="-10" dirty="0">
                          <a:effectLst/>
                        </a:rPr>
                        <a:t>/await)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lnSpc>
                          <a:spcPct val="101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Limited</a:t>
                      </a:r>
                      <a:r>
                        <a:rPr lang="en-US" sz="1200" spc="-5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(via extensions)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Partial</a:t>
                      </a:r>
                      <a:r>
                        <a:rPr lang="en-US" sz="1200" spc="-5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(since</a:t>
                      </a:r>
                      <a:r>
                        <a:rPr lang="en-US" sz="1200" spc="-45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Django</a:t>
                      </a:r>
                      <a:r>
                        <a:rPr lang="en-US" sz="1200" spc="-50" dirty="0">
                          <a:effectLst/>
                        </a:rPr>
                        <a:t> 3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20" dirty="0">
                          <a:effectLst/>
                        </a:rPr>
                        <a:t>Full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393614"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Performance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Very</a:t>
                      </a:r>
                      <a:r>
                        <a:rPr lang="en-US" sz="1200" spc="-4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High</a:t>
                      </a:r>
                      <a:r>
                        <a:rPr lang="en-US" sz="1200" spc="-4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(</a:t>
                      </a:r>
                      <a:r>
                        <a:rPr lang="en-US" sz="1200" dirty="0" err="1">
                          <a:effectLst/>
                        </a:rPr>
                        <a:t>Starlette</a:t>
                      </a:r>
                      <a:r>
                        <a:rPr lang="en-US" sz="1200" spc="-5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+</a:t>
                      </a:r>
                      <a:r>
                        <a:rPr lang="en-US" sz="1200" spc="-35" dirty="0">
                          <a:effectLst/>
                        </a:rPr>
                        <a:t> </a:t>
                      </a:r>
                      <a:r>
                        <a:rPr lang="en-US" sz="1200" spc="-10" dirty="0" err="1">
                          <a:effectLst/>
                        </a:rPr>
                        <a:t>async</a:t>
                      </a:r>
                      <a:r>
                        <a:rPr lang="en-US" sz="1200" spc="-10" dirty="0">
                          <a:effectLst/>
                        </a:rPr>
                        <a:t>)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Moderate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Moderate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Very</a:t>
                      </a:r>
                      <a:r>
                        <a:rPr lang="en-US" sz="1200" spc="-30">
                          <a:effectLst/>
                        </a:rPr>
                        <a:t> </a:t>
                      </a:r>
                      <a:r>
                        <a:rPr lang="en-US" sz="1200" spc="-20">
                          <a:effectLst/>
                        </a:rPr>
                        <a:t>High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397551">
                <a:tc>
                  <a:txBody>
                    <a:bodyPr/>
                    <a:lstStyle/>
                    <a:p>
                      <a:pPr marL="182880" marR="274320" indent="-96520" algn="ctr">
                        <a:lnSpc>
                          <a:spcPct val="101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Type</a:t>
                      </a:r>
                      <a:r>
                        <a:rPr lang="en-US" sz="1200" spc="-6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Hinting</a:t>
                      </a:r>
                      <a:r>
                        <a:rPr lang="en-US" sz="1200" spc="-6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/ </a:t>
                      </a:r>
                      <a:r>
                        <a:rPr lang="en-US" sz="1200" spc="-10">
                          <a:effectLst/>
                        </a:rPr>
                        <a:t>Validation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Built-in</a:t>
                      </a:r>
                      <a:r>
                        <a:rPr lang="en-US" sz="1200" spc="-5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with</a:t>
                      </a:r>
                      <a:r>
                        <a:rPr lang="en-US" sz="1200" spc="-55" dirty="0">
                          <a:effectLst/>
                        </a:rPr>
                        <a:t> </a:t>
                      </a:r>
                      <a:r>
                        <a:rPr lang="en-US" sz="1200" spc="-10" dirty="0" err="1">
                          <a:effectLst/>
                        </a:rPr>
                        <a:t>Pydantic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Manual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Manual</a:t>
                      </a:r>
                      <a:r>
                        <a:rPr lang="en-US" sz="1200" spc="-3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or</a:t>
                      </a:r>
                      <a:r>
                        <a:rPr lang="en-US" sz="1200" spc="-3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via</a:t>
                      </a:r>
                      <a:r>
                        <a:rPr lang="en-US" sz="1200" spc="-25">
                          <a:effectLst/>
                        </a:rPr>
                        <a:t> DRF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Manual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397551"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API</a:t>
                      </a:r>
                      <a:r>
                        <a:rPr lang="en-US" sz="1200" spc="-3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Documentation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Auto-generated</a:t>
                      </a:r>
                      <a:r>
                        <a:rPr lang="en-US" sz="1200" spc="10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(Swagger,</a:t>
                      </a:r>
                      <a:r>
                        <a:rPr lang="en-US" sz="1200" spc="145" dirty="0">
                          <a:effectLst/>
                        </a:rPr>
                        <a:t> </a:t>
                      </a:r>
                      <a:r>
                        <a:rPr lang="en-US" sz="1200" spc="-10" dirty="0" err="1">
                          <a:effectLst/>
                        </a:rPr>
                        <a:t>ReDoc</a:t>
                      </a:r>
                      <a:r>
                        <a:rPr lang="en-US" sz="1200" spc="-10" dirty="0">
                          <a:effectLst/>
                        </a:rPr>
                        <a:t>)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lnSpc>
                          <a:spcPct val="101000"/>
                        </a:lnSpc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No</a:t>
                      </a:r>
                      <a:r>
                        <a:rPr lang="en-US" sz="1200" spc="-6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(3rd-party </a:t>
                      </a:r>
                      <a:r>
                        <a:rPr lang="en-US" sz="1200" spc="-10">
                          <a:effectLst/>
                        </a:rPr>
                        <a:t>plugins)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Yes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(only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with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 spc="-20">
                          <a:effectLst/>
                        </a:rPr>
                        <a:t>DRF)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25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596326"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>
                          <a:effectLst/>
                        </a:rPr>
                        <a:t>ORM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lnSpc>
                          <a:spcPct val="101000"/>
                        </a:lnSpc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None</a:t>
                      </a:r>
                      <a:r>
                        <a:rPr lang="en-US" sz="1200" spc="-6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built-in</a:t>
                      </a:r>
                      <a:r>
                        <a:rPr lang="en-US" sz="1200" spc="-6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(can</a:t>
                      </a:r>
                      <a:r>
                        <a:rPr lang="en-US" sz="1200" spc="-5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use</a:t>
                      </a:r>
                      <a:r>
                        <a:rPr lang="en-US" sz="1200" spc="-6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SQLAlchemy</a:t>
                      </a:r>
                      <a:r>
                        <a:rPr lang="en-US" sz="1200" dirty="0">
                          <a:effectLst/>
                        </a:rPr>
                        <a:t>, Tortoise,</a:t>
                      </a:r>
                      <a:r>
                        <a:rPr lang="en-US" sz="1200" spc="-2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etc.)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None</a:t>
                      </a:r>
                      <a:r>
                        <a:rPr lang="en-US" sz="1200" spc="1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built-</a:t>
                      </a:r>
                      <a:r>
                        <a:rPr lang="en-US" sz="1200" spc="-25">
                          <a:effectLst/>
                        </a:rPr>
                        <a:t>in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Django</a:t>
                      </a:r>
                      <a:r>
                        <a:rPr lang="en-US" sz="1200" spc="-55">
                          <a:effectLst/>
                        </a:rPr>
                        <a:t> </a:t>
                      </a:r>
                      <a:r>
                        <a:rPr lang="en-US" sz="1200" spc="-25">
                          <a:effectLst/>
                        </a:rPr>
                        <a:t>ORM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20">
                          <a:effectLst/>
                        </a:rPr>
                        <a:t>None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205828"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Admin</a:t>
                      </a:r>
                      <a:r>
                        <a:rPr lang="en-US" sz="1200" spc="-5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Interface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 dirty="0">
                          <a:effectLst/>
                        </a:rPr>
                        <a:t>No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Built-</a:t>
                      </a:r>
                      <a:r>
                        <a:rPr lang="en-US" sz="1200" spc="-25">
                          <a:effectLst/>
                        </a:rPr>
                        <a:t>in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25">
                          <a:effectLst/>
                        </a:rPr>
                        <a:t>No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596326"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Learning</a:t>
                      </a:r>
                      <a:r>
                        <a:rPr lang="en-US" sz="1200" spc="1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Curve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Easy</a:t>
                      </a:r>
                      <a:r>
                        <a:rPr lang="en-US" sz="1200" spc="-5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(if</a:t>
                      </a:r>
                      <a:r>
                        <a:rPr lang="en-US" sz="1200" spc="-4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familiar</a:t>
                      </a:r>
                      <a:r>
                        <a:rPr lang="en-US" sz="1200" spc="-5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with</a:t>
                      </a:r>
                      <a:r>
                        <a:rPr lang="en-US" sz="1200" spc="-4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type</a:t>
                      </a:r>
                      <a:r>
                        <a:rPr lang="en-US" sz="1200" spc="-45" dirty="0">
                          <a:effectLst/>
                        </a:rPr>
                        <a:t> </a:t>
                      </a:r>
                      <a:r>
                        <a:rPr lang="en-US" sz="1200" spc="-10" dirty="0">
                          <a:effectLst/>
                        </a:rPr>
                        <a:t>hints)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Very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 spc="-20">
                          <a:effectLst/>
                        </a:rPr>
                        <a:t>Easy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lnSpc>
                          <a:spcPct val="101000"/>
                        </a:lnSpc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Steep</a:t>
                      </a:r>
                      <a:r>
                        <a:rPr lang="en-US" sz="1200" spc="-7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(due</a:t>
                      </a:r>
                      <a:r>
                        <a:rPr lang="en-US" sz="1200" spc="-6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to</a:t>
                      </a:r>
                      <a:r>
                        <a:rPr lang="en-US" sz="1200" spc="-5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monolithic </a:t>
                      </a:r>
                      <a:r>
                        <a:rPr lang="en-US" sz="1200" spc="-10">
                          <a:effectLst/>
                        </a:rPr>
                        <a:t>structure)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Medium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993875"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Best</a:t>
                      </a:r>
                      <a:r>
                        <a:rPr lang="en-US" sz="1200" spc="-4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Use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Cases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lnSpc>
                          <a:spcPct val="101000"/>
                        </a:lnSpc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Modern</a:t>
                      </a:r>
                      <a:r>
                        <a:rPr lang="en-US" sz="1200" spc="-6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APIs,</a:t>
                      </a:r>
                      <a:r>
                        <a:rPr lang="en-US" sz="1200" spc="-60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ML</a:t>
                      </a:r>
                      <a:r>
                        <a:rPr lang="en-US" sz="1200" spc="-5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apps,</a:t>
                      </a:r>
                      <a:r>
                        <a:rPr lang="en-US" sz="1200" spc="-6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async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spc="-10" dirty="0" err="1">
                          <a:effectLst/>
                        </a:rPr>
                        <a:t>microservices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lnSpc>
                          <a:spcPct val="101000"/>
                        </a:lnSpc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Simple</a:t>
                      </a:r>
                      <a:r>
                        <a:rPr lang="en-US" sz="1200" spc="-5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apps, prototyping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lnSpc>
                          <a:spcPct val="101000"/>
                        </a:lnSpc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Large</a:t>
                      </a:r>
                      <a:r>
                        <a:rPr lang="en-US" sz="1200" spc="-7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web</a:t>
                      </a:r>
                      <a:r>
                        <a:rPr lang="en-US" sz="1200" spc="-6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apps,</a:t>
                      </a:r>
                      <a:r>
                        <a:rPr lang="en-US" sz="1200" spc="-55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admin </a:t>
                      </a:r>
                      <a:r>
                        <a:rPr lang="en-US" sz="1200" spc="-10">
                          <a:effectLst/>
                        </a:rPr>
                        <a:t>panels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lnSpc>
                          <a:spcPct val="101000"/>
                        </a:lnSpc>
                        <a:spcBef>
                          <a:spcPts val="16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Ultra-fast microservices, low-</a:t>
                      </a:r>
                      <a:r>
                        <a:rPr lang="en-US" sz="1200">
                          <a:effectLst/>
                        </a:rPr>
                        <a:t>latency APIs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397551">
                <a:tc>
                  <a:txBody>
                    <a:bodyPr/>
                    <a:lstStyle/>
                    <a:p>
                      <a:pPr marL="182880" marR="274320" indent="-65405" algn="ctr">
                        <a:lnSpc>
                          <a:spcPct val="101000"/>
                        </a:lnSpc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Community</a:t>
                      </a:r>
                      <a:r>
                        <a:rPr lang="en-US" sz="1200" spc="-5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&amp; Ecosystem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 dirty="0">
                          <a:effectLst/>
                        </a:rPr>
                        <a:t>Growing</a:t>
                      </a:r>
                      <a:r>
                        <a:rPr lang="en-US" sz="1200" spc="-5" dirty="0">
                          <a:effectLst/>
                        </a:rPr>
                        <a:t> </a:t>
                      </a:r>
                      <a:r>
                        <a:rPr lang="en-US" sz="1200" spc="-20" dirty="0">
                          <a:effectLst/>
                        </a:rPr>
                        <a:t>fast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Mature,</a:t>
                      </a:r>
                      <a:r>
                        <a:rPr lang="en-US" sz="1200" spc="-4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large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Very</a:t>
                      </a:r>
                      <a:r>
                        <a:rPr lang="en-US" sz="1200" spc="-2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mature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Niche,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smaller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596326"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Built-in</a:t>
                      </a:r>
                      <a:r>
                        <a:rPr lang="en-US" sz="1200" spc="1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Features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Light</a:t>
                      </a:r>
                      <a:r>
                        <a:rPr lang="en-US" sz="1200" spc="-45" dirty="0">
                          <a:effectLst/>
                        </a:rPr>
                        <a:t> </a:t>
                      </a:r>
                      <a:r>
                        <a:rPr lang="en-US" sz="1200" dirty="0">
                          <a:effectLst/>
                        </a:rPr>
                        <a:t>but</a:t>
                      </a:r>
                      <a:r>
                        <a:rPr lang="en-US" sz="1200" spc="-35" dirty="0">
                          <a:effectLst/>
                        </a:rPr>
                        <a:t> </a:t>
                      </a:r>
                      <a:r>
                        <a:rPr lang="en-US" sz="1200" spc="-10" dirty="0">
                          <a:effectLst/>
                        </a:rPr>
                        <a:t>powerful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Lightweight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lnSpc>
                          <a:spcPct val="101000"/>
                        </a:lnSpc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Full-stack</a:t>
                      </a:r>
                      <a:r>
                        <a:rPr lang="en-US" sz="1200" spc="-1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batteries-included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7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Very</a:t>
                      </a:r>
                      <a:r>
                        <a:rPr lang="en-US" sz="1200" spc="-3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minimal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393614"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Project</a:t>
                      </a:r>
                      <a:r>
                        <a:rPr lang="en-US" sz="1200" spc="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Structure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 dirty="0">
                          <a:effectLst/>
                        </a:rPr>
                        <a:t>Flexible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spc="-10" dirty="0">
                          <a:effectLst/>
                        </a:rPr>
                        <a:t>(modular)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Very</a:t>
                      </a:r>
                      <a:r>
                        <a:rPr lang="en-US" sz="1200" spc="-4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flexible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Strict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Very</a:t>
                      </a:r>
                      <a:r>
                        <a:rPr lang="en-US" sz="1200" spc="-30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flexible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393614"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Deployment Ready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(ASGI-</a:t>
                      </a:r>
                      <a:r>
                        <a:rPr lang="en-US" sz="1200" spc="-10" dirty="0">
                          <a:effectLst/>
                        </a:rPr>
                        <a:t>ready)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>
                          <a:effectLst/>
                        </a:rPr>
                        <a:t>(WSGI)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(WSGI</a:t>
                      </a:r>
                      <a:r>
                        <a:rPr lang="en-US" sz="1200" spc="-5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&amp;</a:t>
                      </a:r>
                      <a:r>
                        <a:rPr lang="en-US" sz="1200" spc="-20">
                          <a:effectLst/>
                        </a:rPr>
                        <a:t> </a:t>
                      </a:r>
                      <a:r>
                        <a:rPr lang="en-US" sz="1200">
                          <a:effectLst/>
                        </a:rPr>
                        <a:t>partial</a:t>
                      </a:r>
                      <a:r>
                        <a:rPr lang="en-US" sz="1200" spc="-25">
                          <a:effectLst/>
                        </a:rPr>
                        <a:t> </a:t>
                      </a:r>
                      <a:r>
                        <a:rPr lang="en-US" sz="1200" spc="-10">
                          <a:effectLst/>
                        </a:rPr>
                        <a:t>ASGI)</a:t>
                      </a:r>
                      <a:endParaRPr lang="en-US" sz="12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82880" marR="274320" algn="ctr">
                        <a:spcBef>
                          <a:spcPts val="165"/>
                        </a:spcBef>
                        <a:spcAft>
                          <a:spcPts val="0"/>
                        </a:spcAft>
                      </a:pPr>
                      <a:r>
                        <a:rPr lang="en-US" sz="1200" spc="-10" dirty="0">
                          <a:effectLst/>
                        </a:rPr>
                        <a:t>(ASGI/WGSI)</a:t>
                      </a:r>
                      <a:endParaRPr lang="en-US" sz="12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421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Fast 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838200" y="973167"/>
            <a:ext cx="86106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b="1" dirty="0">
                <a:solidFill>
                  <a:srgbClr val="FF0000"/>
                </a:solidFill>
              </a:rPr>
              <a:t>Installation</a:t>
            </a:r>
            <a:endParaRPr lang="en-US" sz="1400" dirty="0">
              <a:solidFill>
                <a:srgbClr val="FF0000"/>
              </a:solidFill>
            </a:endParaRPr>
          </a:p>
          <a:p>
            <a:r>
              <a:rPr lang="en-US" dirty="0"/>
              <a:t> 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b="1" dirty="0"/>
              <a:t>Create/Activate a virtual environment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python –m</a:t>
            </a:r>
            <a:r>
              <a:rPr lang="en-US" b="1" dirty="0"/>
              <a:t>  </a:t>
            </a:r>
            <a:r>
              <a:rPr lang="en-US" dirty="0" err="1"/>
              <a:t>venv</a:t>
            </a:r>
            <a:r>
              <a:rPr lang="en-US" dirty="0"/>
              <a:t> </a:t>
            </a:r>
            <a:r>
              <a:rPr lang="en-US" dirty="0" err="1"/>
              <a:t>env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       cd </a:t>
            </a:r>
            <a:r>
              <a:rPr lang="en-US" dirty="0" err="1"/>
              <a:t>env</a:t>
            </a:r>
            <a:r>
              <a:rPr lang="en-US" dirty="0"/>
              <a:t>/scripts/activate</a:t>
            </a:r>
          </a:p>
          <a:p>
            <a:pPr>
              <a:lnSpc>
                <a:spcPct val="150000"/>
              </a:lnSpc>
            </a:pPr>
            <a:r>
              <a:rPr lang="en-US" b="1" dirty="0"/>
              <a:t> 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b="1" dirty="0"/>
              <a:t>Install </a:t>
            </a:r>
            <a:r>
              <a:rPr lang="en-US" b="1" dirty="0" err="1"/>
              <a:t>FastAPI</a:t>
            </a:r>
            <a:r>
              <a:rPr lang="en-US" b="1" dirty="0"/>
              <a:t> and </a:t>
            </a:r>
            <a:r>
              <a:rPr lang="en-US" b="1" dirty="0" err="1"/>
              <a:t>Uvicorn</a:t>
            </a:r>
            <a:r>
              <a:rPr lang="en-US" b="1" dirty="0"/>
              <a:t>: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  pip install </a:t>
            </a:r>
            <a:r>
              <a:rPr lang="en-US" dirty="0" err="1"/>
              <a:t>fastapi</a:t>
            </a:r>
            <a:r>
              <a:rPr lang="en-US" dirty="0"/>
              <a:t> </a:t>
            </a:r>
            <a:r>
              <a:rPr lang="en-US" dirty="0" err="1"/>
              <a:t>uvicorn</a:t>
            </a:r>
            <a:endParaRPr lang="en-US" dirty="0"/>
          </a:p>
          <a:p>
            <a:r>
              <a:rPr lang="en-US" dirty="0"/>
              <a:t> </a:t>
            </a:r>
            <a:endParaRPr lang="en-US" sz="1400" dirty="0"/>
          </a:p>
          <a:p>
            <a:pPr marL="800100" marR="0" lvl="1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0609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Fast 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6200" y="609600"/>
            <a:ext cx="8610600" cy="41088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solidFill>
                  <a:srgbClr val="FF0000"/>
                </a:solidFill>
              </a:rPr>
              <a:t>First </a:t>
            </a:r>
            <a:r>
              <a:rPr lang="en-US" dirty="0" err="1">
                <a:solidFill>
                  <a:srgbClr val="FF0000"/>
                </a:solidFill>
              </a:rPr>
              <a:t>FastAPI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smtClean="0">
                <a:solidFill>
                  <a:srgbClr val="FF0000"/>
                </a:solidFill>
              </a:rPr>
              <a:t>App</a:t>
            </a:r>
          </a:p>
          <a:p>
            <a:pPr lvl="0"/>
            <a:endParaRPr lang="en-US" dirty="0">
              <a:solidFill>
                <a:srgbClr val="FF0000"/>
              </a:solidFill>
            </a:endParaRPr>
          </a:p>
          <a:p>
            <a:pPr lvl="0">
              <a:lnSpc>
                <a:spcPct val="150000"/>
              </a:lnSpc>
            </a:pPr>
            <a:r>
              <a:rPr lang="en-US" b="1" dirty="0"/>
              <a:t>Write the Python </a:t>
            </a:r>
            <a:r>
              <a:rPr lang="en-US" b="1" dirty="0" smtClean="0"/>
              <a:t>script (main.py)</a:t>
            </a:r>
            <a:endParaRPr lang="en-US" b="1" u="sng" dirty="0"/>
          </a:p>
          <a:p>
            <a:pPr lvl="0">
              <a:lnSpc>
                <a:spcPct val="150000"/>
              </a:lnSpc>
            </a:pPr>
            <a:r>
              <a:rPr lang="en-US" b="1" dirty="0"/>
              <a:t>Run the start-up command: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 err="1"/>
              <a:t>uvicorn</a:t>
            </a:r>
            <a:r>
              <a:rPr lang="en-US" b="1" dirty="0"/>
              <a:t> </a:t>
            </a:r>
            <a:r>
              <a:rPr lang="en-US" b="1" dirty="0" err="1"/>
              <a:t>main:app</a:t>
            </a:r>
            <a:r>
              <a:rPr lang="en-US" b="1" dirty="0"/>
              <a:t> </a:t>
            </a:r>
            <a:r>
              <a:rPr lang="en-US" b="1" dirty="0" smtClean="0"/>
              <a:t>–reload - -workers=4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b="1" dirty="0"/>
              <a:t>Telling </a:t>
            </a:r>
            <a:r>
              <a:rPr lang="en-US" b="1" dirty="0" err="1"/>
              <a:t>uvicorn</a:t>
            </a:r>
            <a:r>
              <a:rPr lang="en-US" b="1" dirty="0"/>
              <a:t>: </a:t>
            </a:r>
            <a:r>
              <a:rPr lang="en-US" i="1" dirty="0"/>
              <a:t>Run the </a:t>
            </a:r>
            <a:r>
              <a:rPr lang="en-US" b="1" i="1" dirty="0"/>
              <a:t>app </a:t>
            </a:r>
            <a:r>
              <a:rPr lang="en-US" i="1" dirty="0"/>
              <a:t>object defined in the </a:t>
            </a:r>
            <a:r>
              <a:rPr lang="en-US" b="1" i="1" dirty="0"/>
              <a:t>main.py </a:t>
            </a:r>
            <a:r>
              <a:rPr lang="en-US" i="1" dirty="0"/>
              <a:t>file, and keep watching for any file changes so you can auto-reload the server</a:t>
            </a:r>
            <a:endParaRPr lang="en-US" dirty="0"/>
          </a:p>
          <a:p>
            <a:r>
              <a:rPr lang="en-US" dirty="0"/>
              <a:t> </a:t>
            </a:r>
          </a:p>
          <a:p>
            <a:pPr marL="800100" marR="0" lvl="1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9" name="Image 27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674660"/>
            <a:ext cx="8763000" cy="223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166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0" y="0"/>
            <a:ext cx="9144000" cy="536575"/>
          </a:xfrm>
          <a:prstGeom prst="rect">
            <a:avLst/>
          </a:prstGeom>
          <a:solidFill>
            <a:srgbClr val="C00000"/>
          </a:solidFill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 smtClean="0">
                <a:solidFill>
                  <a:srgbClr val="FFFF00"/>
                </a:solidFill>
              </a:rPr>
              <a:t>Fast API</a:t>
            </a:r>
            <a:endParaRPr lang="en-US" b="1" dirty="0">
              <a:solidFill>
                <a:srgbClr val="FFFF00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458788" y="277812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1351" y="3241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/>
            </a:r>
            <a:br>
              <a:rPr kumimoji="0" lang="en-US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41351" y="41719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6200" y="801962"/>
            <a:ext cx="8610600" cy="3724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6985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en-US" b="1" dirty="0"/>
              <a:t>Server starts at: </a:t>
            </a:r>
            <a:r>
              <a:rPr lang="en-US" u="sng" dirty="0">
                <a:hlinkClick r:id="rId3"/>
              </a:rPr>
              <a:t>http://</a:t>
            </a:r>
            <a:r>
              <a:rPr lang="en-US" u="sng" dirty="0" smtClean="0">
                <a:hlinkClick r:id="rId3"/>
              </a:rPr>
              <a:t>127.0.0.1:8000</a:t>
            </a:r>
            <a:endParaRPr lang="en-US" u="sng" dirty="0" smtClean="0"/>
          </a:p>
          <a:p>
            <a:pPr lvl="0"/>
            <a:endParaRPr lang="en-US" dirty="0"/>
          </a:p>
          <a:p>
            <a:pPr lvl="0"/>
            <a:r>
              <a:rPr lang="en-US" b="1" dirty="0"/>
              <a:t>You can visit:</a:t>
            </a:r>
            <a:endParaRPr lang="en-US" sz="2800" b="1" u="sng" dirty="0"/>
          </a:p>
          <a:p>
            <a:pPr lvl="1">
              <a:lnSpc>
                <a:spcPct val="150000"/>
              </a:lnSpc>
            </a:pPr>
            <a:r>
              <a:rPr lang="en-US" u="sng" dirty="0">
                <a:hlinkClick r:id="rId3"/>
              </a:rPr>
              <a:t>http://127.0.0.1:8000</a:t>
            </a:r>
            <a:r>
              <a:rPr lang="en-US" dirty="0"/>
              <a:t> → Your API endpoint</a:t>
            </a:r>
          </a:p>
          <a:p>
            <a:pPr lvl="1">
              <a:lnSpc>
                <a:spcPct val="150000"/>
              </a:lnSpc>
            </a:pPr>
            <a:r>
              <a:rPr lang="en-US" u="sng" dirty="0">
                <a:hlinkClick r:id="rId4"/>
              </a:rPr>
              <a:t>http://127.0.0.1:8000/docs</a:t>
            </a:r>
            <a:r>
              <a:rPr lang="en-US" dirty="0"/>
              <a:t> → Swagger UI</a:t>
            </a:r>
          </a:p>
          <a:p>
            <a:pPr lvl="1">
              <a:lnSpc>
                <a:spcPct val="150000"/>
              </a:lnSpc>
            </a:pPr>
            <a:r>
              <a:rPr lang="en-US" u="sng" dirty="0">
                <a:hlinkClick r:id="rId5"/>
              </a:rPr>
              <a:t>http://127.0.0.1:8000/redoc</a:t>
            </a:r>
            <a:r>
              <a:rPr lang="en-US" dirty="0"/>
              <a:t> → </a:t>
            </a:r>
            <a:r>
              <a:rPr lang="en-US" dirty="0" err="1"/>
              <a:t>ReDoc</a:t>
            </a:r>
            <a:r>
              <a:rPr lang="en-US" dirty="0"/>
              <a:t> docs</a:t>
            </a:r>
          </a:p>
          <a:p>
            <a:r>
              <a:rPr lang="en-US" sz="1100" dirty="0"/>
              <a:t/>
            </a:r>
            <a:br>
              <a:rPr lang="en-US" sz="1100" dirty="0"/>
            </a:br>
            <a:r>
              <a:rPr lang="en-US" dirty="0"/>
              <a:t> </a:t>
            </a:r>
          </a:p>
          <a:p>
            <a:pPr marL="800100" marR="0" lvl="1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342900" marR="0" lvl="0" indent="-34290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698500" algn="l"/>
              </a:tabLst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342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2183</TotalTime>
  <Words>2843</Words>
  <Application>Microsoft Office PowerPoint</Application>
  <PresentationFormat>On-screen Show (4:3)</PresentationFormat>
  <Paragraphs>659</Paragraphs>
  <Slides>47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8" baseType="lpstr">
      <vt:lpstr>Arial</vt:lpstr>
      <vt:lpstr>Bahnschrift</vt:lpstr>
      <vt:lpstr>Calibri</vt:lpstr>
      <vt:lpstr>Comic Sans MS</vt:lpstr>
      <vt:lpstr>Consolas</vt:lpstr>
      <vt:lpstr>Courier New</vt:lpstr>
      <vt:lpstr>msmincho</vt:lpstr>
      <vt:lpstr>Nimbus Roman No9 L</vt:lpstr>
      <vt:lpstr>Times New Roman</vt:lpstr>
      <vt:lpstr>Wingdings</vt:lpstr>
      <vt:lpstr>Office Theme</vt:lpstr>
      <vt:lpstr>PowerPoint Presentation</vt:lpstr>
      <vt:lpstr>Python 3.x</vt:lpstr>
      <vt:lpstr>PowerPoint Presentation</vt:lpstr>
      <vt:lpstr>Python Versions</vt:lpstr>
      <vt:lpstr>Why Use Python?</vt:lpstr>
      <vt:lpstr>Python 3.14 new features</vt:lpstr>
      <vt:lpstr>Project Creation with environment</vt:lpstr>
      <vt:lpstr>Project Creation with environment</vt:lpstr>
      <vt:lpstr>Virtual Environment in Python</vt:lpstr>
      <vt:lpstr>Multiple versions o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3.7</dc:title>
  <dc:creator>User</dc:creator>
  <cp:lastModifiedBy>asus</cp:lastModifiedBy>
  <cp:revision>681</cp:revision>
  <dcterms:created xsi:type="dcterms:W3CDTF">2006-08-16T00:00:00Z</dcterms:created>
  <dcterms:modified xsi:type="dcterms:W3CDTF">2026-08-10T11:22:37Z</dcterms:modified>
</cp:coreProperties>
</file>